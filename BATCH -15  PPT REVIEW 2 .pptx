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8" r:id="rId17"/>
    <p:sldId id="277" r:id="rId18"/>
    <p:sldId id="276" r:id="rId19"/>
    <p:sldId id="275" r:id="rId20"/>
    <p:sldId id="280" r:id="rId21"/>
    <p:sldId id="283" r:id="rId22"/>
    <p:sldId id="282" r:id="rId23"/>
    <p:sldId id="279" r:id="rId24"/>
    <p:sldId id="270" r:id="rId25"/>
    <p:sldId id="281" r:id="rId26"/>
    <p:sldId id="274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202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D6E4D-74DE-1F01-E963-8CB264A83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D8FFC-996E-21D6-9455-1EAADC80D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1FC25-87E1-D665-BD7B-7CB10D7AC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5D08A-C2E1-49D7-A103-725EA33C8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33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4498A-7747-5A41-A83F-6BE45E5B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166B9-7B4E-A49F-2A03-ED4BB4B38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D6DB5-178C-6355-0834-E29886E3A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82A06-A8A4-441C-502E-0DABD40A1C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603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B1593-A8E2-2552-D2DC-E247243AB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037BD-5153-0097-F714-7A5CA8175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86FA0-A2DE-05D2-CC75-9BCCB4525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D918-5ECE-DFF8-7807-3B5B60C21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22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D57A3-68D8-3D36-B9B4-D2F60C9E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E030A-AF30-C38F-68FE-4748C6E50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E14D2-E23C-A5AB-11C0-23EAD3D5E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6FDC9-62D7-B4BB-E4D0-1A14F000B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322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42222-F3D3-812E-A3B9-B377EF4B4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B07E5-2106-A7E8-239C-21E77C70E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5A9B2-BA37-FBF6-B0FB-744E75A79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4B114-486D-ACB4-4EFC-7062F6813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87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7357C-1C4E-8877-2FE9-658CB5E9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7763F-8ABF-C21B-B90E-D2008CB24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F38F0-BEA8-9C61-EC48-E93799755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CDB4B-D1FF-C0F7-02B4-47F348639A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7926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277D4-6B58-80D0-576F-131F4610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E3202-B4EE-7637-7AE4-76631CDB9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3D5DC-50CC-95C2-5B2B-9C14E5CEF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58125-DBBF-95EA-B306-7F743E7F06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637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6FF4-43A1-467A-6C8B-5E73C130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2BDA6-F4BC-AB06-3F8C-EC952F1C2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250D3-ACE9-6EE4-F264-870F09D53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F9B31-0363-38E7-7A9C-9ACF11C63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019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E6B68-2F0E-D519-5787-3F97EE277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4AFC5-CDC6-09C5-7F93-1A2BB1675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95415-3FC5-880B-2906-1B1796D02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99516-0D55-D007-A683-A11B40849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388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73C63-D43A-F4B8-7BF1-641C3FCE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4A7F9-A41E-F3DC-E1DD-2EDD6ECB1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76D90-3C51-2999-F65F-1FAE78E4C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55DD8-86FC-CB23-A85E-7751ED09B5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942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7161B-AD9C-C7E7-D4CA-9AF4235DA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329D8-E023-B0A0-B88F-F30A2410E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2D4EA-E5B5-DB10-4F78-B6DDAE4E8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E5614-A112-2F7F-C0B6-3850BFDA8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96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12064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Multi-User Web Chat System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WebSockets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57200" y="259461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  Application·  RTRP Review II  ·  2025–26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93751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15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6169" y="3398139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Vishnu Teja (247R1A0595)     ·     P. Harshith (247R1A05B0)     ·     P. Gnyaneshwar (247R1A05B2)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70771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Dr. V. Naresh Kumar, Associate Professor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5537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open-chat-application-ubti.onrender.com  ·  github.com/Harshith1702/Open_Chat_Application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49640" y="4809744"/>
            <a:ext cx="438912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4809744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Abstract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890146"/>
            <a:ext cx="29182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 Chat?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6647" y="1247560"/>
            <a:ext cx="4880910" cy="954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 is a lightweight real-time communication system that enables multiple users to create or join chat rooms and exchange messages instantly using WebSocket-based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16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demonstrates an event-driven architecture for real-time messaging using Node.js, Express, and Socket.IO.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8773" y="3372925"/>
            <a:ext cx="1254318" cy="327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43881" y="927584"/>
            <a:ext cx="3635437" cy="1123781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98747" y="1026538"/>
            <a:ext cx="267520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35323" y="1469490"/>
            <a:ext cx="414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create or join chat rooms.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may be public or password-protected.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rooms are automatically removed.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43883" y="2256575"/>
            <a:ext cx="3635435" cy="1274193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98747" y="2270900"/>
            <a:ext cx="267520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71898" y="2776741"/>
            <a:ext cx="2766273" cy="538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indicators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user count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/ leave notifications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3883" y="3735977"/>
            <a:ext cx="3635435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98747" y="3781685"/>
            <a:ext cx="267520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71899" y="4101308"/>
            <a:ext cx="4113750" cy="6043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and user data stored in memory.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dependency.</a:t>
            </a:r>
          </a:p>
          <a:p>
            <a:r>
              <a:rPr lang="en-GB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simple architecture.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5F5528-BA72-E07F-866E-8656D1FE9A61}"/>
              </a:ext>
            </a:extLst>
          </p:cNvPr>
          <p:cNvSpPr txBox="1"/>
          <p:nvPr/>
        </p:nvSpPr>
        <p:spPr>
          <a:xfrm>
            <a:off x="416647" y="3700918"/>
            <a:ext cx="30003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Node.js – server runtime</a:t>
            </a:r>
          </a:p>
          <a:p>
            <a:r>
              <a:rPr lang="en-IN" sz="1600" dirty="0"/>
              <a:t>Express.js – web framework</a:t>
            </a:r>
          </a:p>
          <a:p>
            <a:r>
              <a:rPr lang="en-IN" sz="1600" dirty="0"/>
              <a:t>Socket.IO – real-time messaging</a:t>
            </a:r>
          </a:p>
          <a:p>
            <a:r>
              <a:rPr lang="en-IN" sz="1600" dirty="0"/>
              <a:t>Render – cloud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C6796D-B684-0691-54D5-A0C445FD8573}"/>
              </a:ext>
            </a:extLst>
          </p:cNvPr>
          <p:cNvSpPr txBox="1"/>
          <p:nvPr/>
        </p:nvSpPr>
        <p:spPr>
          <a:xfrm>
            <a:off x="365760" y="926099"/>
            <a:ext cx="6769825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Slack</a:t>
            </a:r>
            <a:r>
              <a:rPr lang="en-IN" sz="2000" dirty="0">
                <a:solidFill>
                  <a:srgbClr val="0070C0"/>
                </a:solidFill>
              </a:rPr>
              <a:t> </a:t>
            </a:r>
            <a:r>
              <a:rPr lang="en-IN" sz="2000" dirty="0"/>
              <a:t>– enterprise collaboration tool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rgbClr val="0070C0"/>
                </a:solidFill>
              </a:rPr>
              <a:t>Discord </a:t>
            </a:r>
            <a:r>
              <a:rPr lang="en-IN" sz="2000" dirty="0"/>
              <a:t>– community communication platform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rgbClr val="0070C0"/>
                </a:solidFill>
              </a:rPr>
              <a:t>Microsoft Teams </a:t>
            </a:r>
            <a:r>
              <a:rPr lang="en-IN" sz="2000" dirty="0"/>
              <a:t>– corporate messaging system</a:t>
            </a:r>
          </a:p>
          <a:p>
            <a:endParaRPr lang="en-IN" sz="2000" dirty="0"/>
          </a:p>
          <a:p>
            <a:r>
              <a:rPr lang="en-IN" sz="2000" b="1" dirty="0" err="1">
                <a:solidFill>
                  <a:srgbClr val="0070C0"/>
                </a:solidFill>
              </a:rPr>
              <a:t>Rocket.Chat</a:t>
            </a:r>
            <a:r>
              <a:rPr lang="en-IN" sz="2000" b="1" dirty="0">
                <a:solidFill>
                  <a:srgbClr val="0070C0"/>
                </a:solidFill>
              </a:rPr>
              <a:t> </a:t>
            </a:r>
            <a:r>
              <a:rPr lang="en-IN" sz="2000" dirty="0"/>
              <a:t>– open-source chat platform</a:t>
            </a:r>
          </a:p>
          <a:p>
            <a:endParaRPr lang="en-IN" sz="2000" dirty="0"/>
          </a:p>
          <a:p>
            <a:r>
              <a:rPr lang="en-IN" sz="2000" b="1" dirty="0" err="1">
                <a:solidFill>
                  <a:srgbClr val="0070C0"/>
                </a:solidFill>
              </a:rPr>
              <a:t>Mattermost</a:t>
            </a:r>
            <a:r>
              <a:rPr lang="en-IN" sz="2000" dirty="0"/>
              <a:t> – self-hosted team messaging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rgbClr val="0070C0"/>
                </a:solidFill>
              </a:rPr>
              <a:t>Telegram Web </a:t>
            </a:r>
            <a:r>
              <a:rPr lang="en-IN" sz="2000" dirty="0"/>
              <a:t>– browser-based messaging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rgbClr val="0070C0"/>
                </a:solidFill>
              </a:rPr>
              <a:t>WhatsApp Web </a:t>
            </a:r>
            <a:r>
              <a:rPr lang="en-IN" sz="2000" dirty="0"/>
              <a:t>– real-time messaging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of Existing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005839"/>
            <a:ext cx="2743200" cy="188644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521208" y="1133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account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8529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/>
              <a:t>Most platforms require user registration and authentication before allowing users to communicate.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27832" y="1005840"/>
            <a:ext cx="2743200" cy="188644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13" name="Text 11"/>
          <p:cNvSpPr/>
          <p:nvPr/>
        </p:nvSpPr>
        <p:spPr>
          <a:xfrm>
            <a:off x="3337560" y="1133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infrastructure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27832" y="15087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systems rely on complex backend infrastructure including databases, authentication services, and cloud configurations.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44184" y="1005840"/>
            <a:ext cx="2743200" cy="188644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17" name="Text 15"/>
          <p:cNvSpPr/>
          <p:nvPr/>
        </p:nvSpPr>
        <p:spPr>
          <a:xfrm>
            <a:off x="6153912" y="1133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setup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44184" y="1508760"/>
            <a:ext cx="28529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platforms like </a:t>
            </a:r>
            <a:r>
              <a:rPr lang="en-GB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Rocket.Chat</a:t>
            </a:r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GB" sz="16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Mattermost</a:t>
            </a:r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requires advanced server setup and DevOps knowledge.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096627"/>
            <a:ext cx="2743200" cy="161452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21" name="Text 19"/>
          <p:cNvSpPr/>
          <p:nvPr/>
        </p:nvSpPr>
        <p:spPr>
          <a:xfrm>
            <a:off x="521208" y="3224643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learning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" y="3599547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existing chat platforms have large and complex codebases that are difficult for beginners to understand.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27832" y="3096627"/>
            <a:ext cx="2743200" cy="161452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25" name="Text 23"/>
          <p:cNvSpPr/>
          <p:nvPr/>
        </p:nvSpPr>
        <p:spPr>
          <a:xfrm>
            <a:off x="3337560" y="3224643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 room cleanup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27832" y="3599547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rooms often remain active even when no users are present, which wastes server resources.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44184" y="3096626"/>
            <a:ext cx="2743200" cy="161452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29" name="Text 27"/>
          <p:cNvSpPr/>
          <p:nvPr/>
        </p:nvSpPr>
        <p:spPr>
          <a:xfrm>
            <a:off x="6153912" y="3224643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anonymous access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44184" y="3599547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access is usually not supported, making quick link-based communication difficult.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— Open Chat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59" y="881750"/>
            <a:ext cx="4153989" cy="74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954902"/>
            <a:ext cx="34572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Join Rooms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1260041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create or join chat rooms.</a:t>
            </a:r>
          </a:p>
          <a:p>
            <a:r>
              <a:rPr lang="en-GB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may be public or password protected.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73089"/>
            <a:ext cx="415398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1846241"/>
            <a:ext cx="33362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8948" y="2129213"/>
            <a:ext cx="42008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appear instantly via WebSocket — no refresh, no delay.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95465"/>
            <a:ext cx="415398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568617"/>
            <a:ext cx="309522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2824649"/>
            <a:ext cx="34572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when someone's typing with a live indicator.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17841"/>
            <a:ext cx="415398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290993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room cleanup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3547025"/>
            <a:ext cx="389665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disappears the moment the owner disconnects.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40217"/>
            <a:ext cx="4153988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013369"/>
            <a:ext cx="298549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Password-protected rooms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4269401"/>
            <a:ext cx="34034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password for private conversations.</a:t>
            </a:r>
            <a:endParaRPr lang="en-US" sz="1100" dirty="0"/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A4F718ED-2A4C-6773-9F3B-906BE6D6470F}"/>
              </a:ext>
            </a:extLst>
          </p:cNvPr>
          <p:cNvSpPr/>
          <p:nvPr/>
        </p:nvSpPr>
        <p:spPr>
          <a:xfrm>
            <a:off x="5457231" y="852957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Flow</a:t>
            </a:r>
            <a:endParaRPr lang="en-US" dirty="0"/>
          </a:p>
        </p:txBody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D8A529BB-112E-38E0-D563-A53D738EFF6A}"/>
              </a:ext>
            </a:extLst>
          </p:cNvPr>
          <p:cNvSpPr/>
          <p:nvPr/>
        </p:nvSpPr>
        <p:spPr>
          <a:xfrm>
            <a:off x="5457231" y="1275486"/>
            <a:ext cx="2926080" cy="347472"/>
          </a:xfrm>
          <a:prstGeom prst="rect">
            <a:avLst/>
          </a:prstGeom>
          <a:solidFill>
            <a:srgbClr val="0D1B2A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D98B139D-6758-864F-59EE-4FF7396F2D24}"/>
              </a:ext>
            </a:extLst>
          </p:cNvPr>
          <p:cNvSpPr/>
          <p:nvPr/>
        </p:nvSpPr>
        <p:spPr>
          <a:xfrm>
            <a:off x="5457231" y="127548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FFF4096C-38C1-5380-AEBF-06456180F370}"/>
              </a:ext>
            </a:extLst>
          </p:cNvPr>
          <p:cNvSpPr/>
          <p:nvPr/>
        </p:nvSpPr>
        <p:spPr>
          <a:xfrm>
            <a:off x="5457231" y="162295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95FF76F5-CFBE-1B98-A520-1D02F613B9B1}"/>
              </a:ext>
            </a:extLst>
          </p:cNvPr>
          <p:cNvSpPr/>
          <p:nvPr/>
        </p:nvSpPr>
        <p:spPr>
          <a:xfrm>
            <a:off x="5457231" y="1824126"/>
            <a:ext cx="29260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8" name="Text 31">
            <a:extLst>
              <a:ext uri="{FF2B5EF4-FFF2-40B4-BE49-F238E27FC236}">
                <a16:creationId xmlns:a16="http://schemas.microsoft.com/office/drawing/2014/main" id="{AA99DB52-361E-E212-BF1B-F8782FAE5C22}"/>
              </a:ext>
            </a:extLst>
          </p:cNvPr>
          <p:cNvSpPr/>
          <p:nvPr/>
        </p:nvSpPr>
        <p:spPr>
          <a:xfrm>
            <a:off x="5457231" y="182412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1200" dirty="0"/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AB60D97B-D2A1-565C-591B-3815CD02EE1A}"/>
              </a:ext>
            </a:extLst>
          </p:cNvPr>
          <p:cNvSpPr/>
          <p:nvPr/>
        </p:nvSpPr>
        <p:spPr>
          <a:xfrm>
            <a:off x="5457231" y="217159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0" name="Shape 33">
            <a:extLst>
              <a:ext uri="{FF2B5EF4-FFF2-40B4-BE49-F238E27FC236}">
                <a16:creationId xmlns:a16="http://schemas.microsoft.com/office/drawing/2014/main" id="{D8D8C9AF-E277-8588-2F7C-6D634CEA3179}"/>
              </a:ext>
            </a:extLst>
          </p:cNvPr>
          <p:cNvSpPr/>
          <p:nvPr/>
        </p:nvSpPr>
        <p:spPr>
          <a:xfrm>
            <a:off x="5457231" y="2372766"/>
            <a:ext cx="29260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D0AE9962-14F8-9931-3A6B-E8392FB2FC02}"/>
              </a:ext>
            </a:extLst>
          </p:cNvPr>
          <p:cNvSpPr/>
          <p:nvPr/>
        </p:nvSpPr>
        <p:spPr>
          <a:xfrm>
            <a:off x="5457231" y="237276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</a:t>
            </a:r>
            <a:endParaRPr lang="en-US" sz="1200" dirty="0"/>
          </a:p>
        </p:txBody>
      </p:sp>
      <p:sp>
        <p:nvSpPr>
          <p:cNvPr id="62" name="Text 35">
            <a:extLst>
              <a:ext uri="{FF2B5EF4-FFF2-40B4-BE49-F238E27FC236}">
                <a16:creationId xmlns:a16="http://schemas.microsoft.com/office/drawing/2014/main" id="{0D7DC2BB-39A0-4578-ECF1-05F8596CFCEB}"/>
              </a:ext>
            </a:extLst>
          </p:cNvPr>
          <p:cNvSpPr/>
          <p:nvPr/>
        </p:nvSpPr>
        <p:spPr>
          <a:xfrm>
            <a:off x="5457231" y="272023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3" name="Shape 36">
            <a:extLst>
              <a:ext uri="{FF2B5EF4-FFF2-40B4-BE49-F238E27FC236}">
                <a16:creationId xmlns:a16="http://schemas.microsoft.com/office/drawing/2014/main" id="{8A2DAD50-8DA2-1D18-2050-67796F37093F}"/>
              </a:ext>
            </a:extLst>
          </p:cNvPr>
          <p:cNvSpPr/>
          <p:nvPr/>
        </p:nvSpPr>
        <p:spPr>
          <a:xfrm>
            <a:off x="5457231" y="2921406"/>
            <a:ext cx="2926080" cy="347472"/>
          </a:xfrm>
          <a:prstGeom prst="rect">
            <a:avLst/>
          </a:prstGeom>
          <a:solidFill>
            <a:srgbClr val="0D1B2A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64" name="Text 37">
            <a:extLst>
              <a:ext uri="{FF2B5EF4-FFF2-40B4-BE49-F238E27FC236}">
                <a16:creationId xmlns:a16="http://schemas.microsoft.com/office/drawing/2014/main" id="{B90A0C64-C6D4-B58E-C363-BEFB6562A887}"/>
              </a:ext>
            </a:extLst>
          </p:cNvPr>
          <p:cNvSpPr/>
          <p:nvPr/>
        </p:nvSpPr>
        <p:spPr>
          <a:xfrm>
            <a:off x="5457231" y="292140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Manager</a:t>
            </a:r>
            <a:endParaRPr lang="en-US" sz="1200" dirty="0"/>
          </a:p>
        </p:txBody>
      </p:sp>
      <p:sp>
        <p:nvSpPr>
          <p:cNvPr id="65" name="Text 38">
            <a:extLst>
              <a:ext uri="{FF2B5EF4-FFF2-40B4-BE49-F238E27FC236}">
                <a16:creationId xmlns:a16="http://schemas.microsoft.com/office/drawing/2014/main" id="{9E71864F-389E-EE43-D506-91C1E46A1269}"/>
              </a:ext>
            </a:extLst>
          </p:cNvPr>
          <p:cNvSpPr/>
          <p:nvPr/>
        </p:nvSpPr>
        <p:spPr>
          <a:xfrm>
            <a:off x="5457231" y="358837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dirty="0"/>
          </a:p>
        </p:txBody>
      </p:sp>
      <p:sp>
        <p:nvSpPr>
          <p:cNvPr id="66" name="Text 39">
            <a:extLst>
              <a:ext uri="{FF2B5EF4-FFF2-40B4-BE49-F238E27FC236}">
                <a16:creationId xmlns:a16="http://schemas.microsoft.com/office/drawing/2014/main" id="{C8264E71-509D-9114-3E1C-AB9C49551698}"/>
              </a:ext>
            </a:extLst>
          </p:cNvPr>
          <p:cNvSpPr/>
          <p:nvPr/>
        </p:nvSpPr>
        <p:spPr>
          <a:xfrm>
            <a:off x="5457231" y="395413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Socket.IO · Render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Proposed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7908FA-8E4E-8293-4723-38305FBF521F}"/>
              </a:ext>
            </a:extLst>
          </p:cNvPr>
          <p:cNvSpPr txBox="1"/>
          <p:nvPr/>
        </p:nvSpPr>
        <p:spPr>
          <a:xfrm>
            <a:off x="365760" y="786384"/>
            <a:ext cx="60089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No user registration required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Real-time WebSocket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Lightweight architecture (no database)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Automatic room lifecycle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Password-protected private rooms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Accessible from any device with a web browser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Cloud deployment on Render via GitHub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Simple and maintainable codebase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969264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37490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System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Processor: Intel i3 or equivalent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RAM: Minimum 4 GB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Storage: 500 MB free space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Network: Stable internet connection</a:t>
            </a:r>
          </a:p>
          <a:p>
            <a:endParaRPr lang="en-US" sz="16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Devices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Laptop / Desktop / Tablet / Smartphone</a:t>
            </a:r>
          </a:p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modern web browser with WebSocket support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969264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92040" y="14173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904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4904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v18+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18745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9476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9476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23317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4048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4048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v4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27889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620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8620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Firefox / Edge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32461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3192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3192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Render Cloud Platform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92040" y="3703320"/>
            <a:ext cx="3931920" cy="402336"/>
          </a:xfrm>
          <a:prstGeom prst="rect">
            <a:avLst/>
          </a:prstGeom>
          <a:solidFill>
            <a:srgbClr val="F0F4F8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77647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09360" y="37764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Novelty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85953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70432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50392" y="124418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/>
              <a:t>Database-free architecture</a:t>
            </a:r>
            <a:endParaRPr lang="en-US" sz="2000" b="1" dirty="0"/>
          </a:p>
        </p:txBody>
      </p:sp>
      <p:sp>
        <p:nvSpPr>
          <p:cNvPr id="12" name="Text 10"/>
          <p:cNvSpPr/>
          <p:nvPr/>
        </p:nvSpPr>
        <p:spPr>
          <a:xfrm>
            <a:off x="850392" y="1612525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600" dirty="0"/>
              <a:t>Room and user state are maintained in server memory using in-memory data structures instead of a database.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85953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48840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488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0392" y="224028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/>
              <a:t>Automatic room lifecycle</a:t>
            </a:r>
            <a:endParaRPr lang="en-US" sz="2000" b="1" dirty="0"/>
          </a:p>
        </p:txBody>
      </p:sp>
      <p:sp>
        <p:nvSpPr>
          <p:cNvPr id="17" name="Text 15"/>
          <p:cNvSpPr/>
          <p:nvPr/>
        </p:nvSpPr>
        <p:spPr>
          <a:xfrm>
            <a:off x="850392" y="254203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rooms are automatically deleted when the last connected user leaves the room.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85953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127248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127248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50392" y="321868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/>
              <a:t>Real-time event architecture</a:t>
            </a:r>
            <a:endParaRPr lang="en-US" sz="2000" b="1" dirty="0"/>
          </a:p>
        </p:txBody>
      </p:sp>
      <p:sp>
        <p:nvSpPr>
          <p:cNvPr id="22" name="Text 20"/>
          <p:cNvSpPr/>
          <p:nvPr/>
        </p:nvSpPr>
        <p:spPr>
          <a:xfrm>
            <a:off x="850392" y="35204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delivered instantly through WebSocket-based event-driven communication.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4320" y="4105656"/>
            <a:ext cx="859536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105656"/>
            <a:ext cx="5029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105656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50392" y="419709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dirty="0"/>
              <a:t>Cloud Deployment</a:t>
            </a:r>
            <a:endParaRPr lang="en-US" sz="2000" b="1" dirty="0"/>
          </a:p>
        </p:txBody>
      </p:sp>
      <p:sp>
        <p:nvSpPr>
          <p:cNvPr id="27" name="Text 25"/>
          <p:cNvSpPr/>
          <p:nvPr/>
        </p:nvSpPr>
        <p:spPr>
          <a:xfrm>
            <a:off x="850392" y="449884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deployed on Render and automatically updated through GitHub integration.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771B7415-FB10-F999-EAA5-E34FAF47623A}"/>
              </a:ext>
            </a:extLst>
          </p:cNvPr>
          <p:cNvSpPr/>
          <p:nvPr/>
        </p:nvSpPr>
        <p:spPr>
          <a:xfrm>
            <a:off x="160020" y="1149654"/>
            <a:ext cx="2697480" cy="2624328"/>
          </a:xfrm>
          <a:prstGeom prst="rect">
            <a:avLst/>
          </a:prstGeom>
          <a:solidFill>
            <a:srgbClr val="FFFFFF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61D425F2-3023-1E80-843F-1B5BCE6D8E82}"/>
              </a:ext>
            </a:extLst>
          </p:cNvPr>
          <p:cNvSpPr/>
          <p:nvPr/>
        </p:nvSpPr>
        <p:spPr>
          <a:xfrm>
            <a:off x="160020" y="1149654"/>
            <a:ext cx="2697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81CE669E-997F-1FF3-9D64-0B340EBA8EE5}"/>
              </a:ext>
            </a:extLst>
          </p:cNvPr>
          <p:cNvSpPr/>
          <p:nvPr/>
        </p:nvSpPr>
        <p:spPr>
          <a:xfrm>
            <a:off x="233172" y="119537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9B30A972-FCCD-37BA-8AE1-0535BD1458A8}"/>
              </a:ext>
            </a:extLst>
          </p:cNvPr>
          <p:cNvSpPr/>
          <p:nvPr/>
        </p:nvSpPr>
        <p:spPr>
          <a:xfrm>
            <a:off x="324612" y="1606854"/>
            <a:ext cx="2377440" cy="58969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Browser (HTML / CSS / JS)</a:t>
            </a:r>
            <a:endParaRPr lang="en-US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4684FCEA-5379-4BA5-CE77-AE0C27FC54E1}"/>
              </a:ext>
            </a:extLst>
          </p:cNvPr>
          <p:cNvSpPr/>
          <p:nvPr/>
        </p:nvSpPr>
        <p:spPr>
          <a:xfrm>
            <a:off x="324612" y="2082341"/>
            <a:ext cx="2377440" cy="7006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Socket.IO Client Library</a:t>
            </a:r>
            <a:endParaRPr lang="en-US" dirty="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10A6C0A3-06F4-435A-453B-D5C1390DD922}"/>
              </a:ext>
            </a:extLst>
          </p:cNvPr>
          <p:cNvSpPr/>
          <p:nvPr/>
        </p:nvSpPr>
        <p:spPr>
          <a:xfrm>
            <a:off x="324612" y="2557829"/>
            <a:ext cx="2377440" cy="104013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Responsive browser interface</a:t>
            </a:r>
            <a:endParaRPr lang="en-US" dirty="0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4B0DB14A-CAC2-6B62-52FE-A0F560C8E0C0}"/>
              </a:ext>
            </a:extLst>
          </p:cNvPr>
          <p:cNvSpPr/>
          <p:nvPr/>
        </p:nvSpPr>
        <p:spPr>
          <a:xfrm>
            <a:off x="3223260" y="1149654"/>
            <a:ext cx="2697480" cy="2624328"/>
          </a:xfrm>
          <a:prstGeom prst="rect">
            <a:avLst/>
          </a:prstGeom>
          <a:solidFill>
            <a:srgbClr val="FFFFFF"/>
          </a:solidFill>
          <a:ln w="1651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5C15188D-9DC0-3725-22D3-8CE40D06122D}"/>
              </a:ext>
            </a:extLst>
          </p:cNvPr>
          <p:cNvSpPr/>
          <p:nvPr/>
        </p:nvSpPr>
        <p:spPr>
          <a:xfrm>
            <a:off x="3223260" y="1149654"/>
            <a:ext cx="2697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400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62A806DA-2F9C-6AF5-5439-5ACEADCC14C5}"/>
              </a:ext>
            </a:extLst>
          </p:cNvPr>
          <p:cNvSpPr/>
          <p:nvPr/>
        </p:nvSpPr>
        <p:spPr>
          <a:xfrm>
            <a:off x="3296412" y="119537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dirty="0"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94B7F0CA-B0D5-B992-54D3-9791BC0FC7D7}"/>
              </a:ext>
            </a:extLst>
          </p:cNvPr>
          <p:cNvSpPr/>
          <p:nvPr/>
        </p:nvSpPr>
        <p:spPr>
          <a:xfrm>
            <a:off x="3387852" y="160685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Node.js + Express (HTTP)</a:t>
            </a:r>
            <a:endParaRPr lang="en-US" dirty="0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4224B703-051B-DEB8-31C9-70261E385372}"/>
              </a:ext>
            </a:extLst>
          </p:cNvPr>
          <p:cNvSpPr/>
          <p:nvPr/>
        </p:nvSpPr>
        <p:spPr>
          <a:xfrm>
            <a:off x="3387852" y="21530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Socket.IO Server (WS)</a:t>
            </a:r>
            <a:endParaRPr lang="en-US" dirty="0"/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88C4F51F-5914-D614-0B78-91D9F28D1CFD}"/>
              </a:ext>
            </a:extLst>
          </p:cNvPr>
          <p:cNvSpPr/>
          <p:nvPr/>
        </p:nvSpPr>
        <p:spPr>
          <a:xfrm>
            <a:off x="3387852" y="2674212"/>
            <a:ext cx="2642616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GB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&amp; User Manager (In-memory Map)</a:t>
            </a:r>
            <a:endParaRPr lang="en-US" dirty="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BA9BB99C-4CCC-34A0-0C85-10F5A4673ED9}"/>
              </a:ext>
            </a:extLst>
          </p:cNvPr>
          <p:cNvSpPr/>
          <p:nvPr/>
        </p:nvSpPr>
        <p:spPr>
          <a:xfrm>
            <a:off x="3387852" y="32654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Event Handler</a:t>
            </a:r>
            <a:endParaRPr lang="en-US" dirty="0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7288F6F1-4A95-58F8-E33B-3B5F1F8C2F64}"/>
              </a:ext>
            </a:extLst>
          </p:cNvPr>
          <p:cNvSpPr/>
          <p:nvPr/>
        </p:nvSpPr>
        <p:spPr>
          <a:xfrm>
            <a:off x="6366012" y="1149654"/>
            <a:ext cx="2697480" cy="2093976"/>
          </a:xfrm>
          <a:prstGeom prst="rect">
            <a:avLst/>
          </a:prstGeom>
          <a:solidFill>
            <a:srgbClr val="FFFFFF"/>
          </a:solidFill>
          <a:ln w="1651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63" name="Shape 19">
            <a:extLst>
              <a:ext uri="{FF2B5EF4-FFF2-40B4-BE49-F238E27FC236}">
                <a16:creationId xmlns:a16="http://schemas.microsoft.com/office/drawing/2014/main" id="{DDA83888-D92C-8B2A-8C7D-1AC8D5B396D3}"/>
              </a:ext>
            </a:extLst>
          </p:cNvPr>
          <p:cNvSpPr/>
          <p:nvPr/>
        </p:nvSpPr>
        <p:spPr>
          <a:xfrm>
            <a:off x="6366012" y="1149654"/>
            <a:ext cx="2697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64" name="Text 20">
            <a:extLst>
              <a:ext uri="{FF2B5EF4-FFF2-40B4-BE49-F238E27FC236}">
                <a16:creationId xmlns:a16="http://schemas.microsoft.com/office/drawing/2014/main" id="{3038BBF0-6ADB-50DB-2937-20596FCBD9CD}"/>
              </a:ext>
            </a:extLst>
          </p:cNvPr>
          <p:cNvSpPr/>
          <p:nvPr/>
        </p:nvSpPr>
        <p:spPr>
          <a:xfrm>
            <a:off x="6439164" y="119537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65" name="Text 21">
            <a:extLst>
              <a:ext uri="{FF2B5EF4-FFF2-40B4-BE49-F238E27FC236}">
                <a16:creationId xmlns:a16="http://schemas.microsoft.com/office/drawing/2014/main" id="{90CE29D2-DBA8-C6BF-0CFE-4E0EE7BE5BFA}"/>
              </a:ext>
            </a:extLst>
          </p:cNvPr>
          <p:cNvSpPr/>
          <p:nvPr/>
        </p:nvSpPr>
        <p:spPr>
          <a:xfrm>
            <a:off x="6530604" y="160685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Render Cloud Platform</a:t>
            </a:r>
            <a:endParaRPr lang="en-US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68801E6C-7C52-F46E-8C37-0AD2EECEC1BA}"/>
              </a:ext>
            </a:extLst>
          </p:cNvPr>
          <p:cNvSpPr/>
          <p:nvPr/>
        </p:nvSpPr>
        <p:spPr>
          <a:xfrm>
            <a:off x="6530604" y="208234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GitHub CI/CD</a:t>
            </a:r>
            <a:endParaRPr lang="en-US" dirty="0"/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C5B8D374-6627-FA52-AF2F-D5123F1A7BDB}"/>
              </a:ext>
            </a:extLst>
          </p:cNvPr>
          <p:cNvSpPr/>
          <p:nvPr/>
        </p:nvSpPr>
        <p:spPr>
          <a:xfrm>
            <a:off x="6530604" y="255783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HTTPS + WSS</a:t>
            </a:r>
            <a:endParaRPr lang="en-US" dirty="0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4BC5B84D-40C3-A2FE-CFA3-09E64FCA0EC1}"/>
              </a:ext>
            </a:extLst>
          </p:cNvPr>
          <p:cNvSpPr/>
          <p:nvPr/>
        </p:nvSpPr>
        <p:spPr>
          <a:xfrm>
            <a:off x="2967228" y="1936038"/>
            <a:ext cx="146304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dirty="0">
                <a:solidFill>
                  <a:srgbClr val="00B4D8"/>
                </a:solidFill>
              </a:rPr>
              <a:t>⟷</a:t>
            </a:r>
            <a:endParaRPr lang="en-US" sz="4000" dirty="0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B9B41048-0836-B25C-8C37-A0CC61CC53FB}"/>
              </a:ext>
            </a:extLst>
          </p:cNvPr>
          <p:cNvSpPr/>
          <p:nvPr/>
        </p:nvSpPr>
        <p:spPr>
          <a:xfrm>
            <a:off x="5914776" y="227893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dirty="0">
                <a:solidFill>
                  <a:srgbClr val="00B4D8"/>
                </a:solidFill>
              </a:rPr>
              <a:t>⟷</a:t>
            </a:r>
            <a:endParaRPr lang="en-US" sz="4000" dirty="0"/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EE9ECFC9-34CC-938E-FBDC-A286BE53ACF0}"/>
              </a:ext>
            </a:extLst>
          </p:cNvPr>
          <p:cNvSpPr/>
          <p:nvPr/>
        </p:nvSpPr>
        <p:spPr>
          <a:xfrm>
            <a:off x="6411732" y="1181357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7C6C78A1-449B-4D0E-F121-FD029EF61ECF}"/>
              </a:ext>
            </a:extLst>
          </p:cNvPr>
          <p:cNvSpPr/>
          <p:nvPr/>
        </p:nvSpPr>
        <p:spPr>
          <a:xfrm>
            <a:off x="365760" y="1071645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User Management</a:t>
            </a:r>
            <a:endParaRPr lang="en-US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22460F36-344F-F865-1088-3315B5DF0F17}"/>
              </a:ext>
            </a:extLst>
          </p:cNvPr>
          <p:cNvSpPr/>
          <p:nvPr/>
        </p:nvSpPr>
        <p:spPr>
          <a:xfrm>
            <a:off x="3383280" y="10425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socket registration and username management.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active users and broadcasts join/leave events.</a:t>
            </a:r>
            <a:endParaRPr lang="en-US" sz="1600" dirty="0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455C5761-94C3-B9ED-20B6-FADCDC92F05C}"/>
              </a:ext>
            </a:extLst>
          </p:cNvPr>
          <p:cNvSpPr/>
          <p:nvPr/>
        </p:nvSpPr>
        <p:spPr>
          <a:xfrm>
            <a:off x="365760" y="1479042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5C18F69-1AAB-A4EC-E90A-4110CC74B8C2}"/>
              </a:ext>
            </a:extLst>
          </p:cNvPr>
          <p:cNvSpPr/>
          <p:nvPr/>
        </p:nvSpPr>
        <p:spPr>
          <a:xfrm>
            <a:off x="365760" y="163449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Room Management</a:t>
            </a:r>
            <a:endParaRPr lang="en-US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7553FECA-BE3E-804B-6B1A-48BA65FF5753}"/>
              </a:ext>
            </a:extLst>
          </p:cNvPr>
          <p:cNvSpPr/>
          <p:nvPr/>
        </p:nvSpPr>
        <p:spPr>
          <a:xfrm>
            <a:off x="3383280" y="1634490"/>
            <a:ext cx="5605272" cy="18795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manages chat rooms. 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passwords, enforces limits, and removes empty rooms.</a:t>
            </a:r>
            <a:endParaRPr lang="en-US" sz="1600" dirty="0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6E903808-2B95-E7E7-E173-CC092DBE9BB4}"/>
              </a:ext>
            </a:extLst>
          </p:cNvPr>
          <p:cNvSpPr/>
          <p:nvPr/>
        </p:nvSpPr>
        <p:spPr>
          <a:xfrm>
            <a:off x="356616" y="2051040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A2ABA9CE-6295-4029-D7AE-8839B7CB2D3D}"/>
              </a:ext>
            </a:extLst>
          </p:cNvPr>
          <p:cNvSpPr/>
          <p:nvPr/>
        </p:nvSpPr>
        <p:spPr>
          <a:xfrm>
            <a:off x="365760" y="2218315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Messaging</a:t>
            </a:r>
            <a:endParaRPr lang="en-US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FD5A6A8F-86C5-16B3-77BF-F3C82D7D1188}"/>
              </a:ext>
            </a:extLst>
          </p:cNvPr>
          <p:cNvSpPr/>
          <p:nvPr/>
        </p:nvSpPr>
        <p:spPr>
          <a:xfrm>
            <a:off x="3383280" y="2208573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sending and receiving messages using Socket.IO.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messages to all users within a room.</a:t>
            </a:r>
            <a:endParaRPr lang="en-US" sz="1600" dirty="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9C90E4D2-ECBD-87F1-9F15-2629AB953A42}"/>
              </a:ext>
            </a:extLst>
          </p:cNvPr>
          <p:cNvSpPr/>
          <p:nvPr/>
        </p:nvSpPr>
        <p:spPr>
          <a:xfrm>
            <a:off x="365760" y="2623729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1E75738B-33A7-AB4C-DF20-2AD0F64CB6C7}"/>
              </a:ext>
            </a:extLst>
          </p:cNvPr>
          <p:cNvSpPr/>
          <p:nvPr/>
        </p:nvSpPr>
        <p:spPr>
          <a:xfrm>
            <a:off x="365760" y="275989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Typing Indicator</a:t>
            </a:r>
            <a:endParaRPr lang="en-US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6775F5DC-96B9-689E-C4E8-487E1F0A2293}"/>
              </a:ext>
            </a:extLst>
          </p:cNvPr>
          <p:cNvSpPr/>
          <p:nvPr/>
        </p:nvSpPr>
        <p:spPr>
          <a:xfrm>
            <a:off x="3383280" y="275989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typing events from users.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real-time typing indicators in the chat room.</a:t>
            </a:r>
            <a:endParaRPr lang="en-US" sz="160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41790807-7170-7ACE-5F00-F1021069AE1A}"/>
              </a:ext>
            </a:extLst>
          </p:cNvPr>
          <p:cNvSpPr/>
          <p:nvPr/>
        </p:nvSpPr>
        <p:spPr>
          <a:xfrm>
            <a:off x="365760" y="3188969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5993DCFF-0B67-278D-02CB-2095541C3884}"/>
              </a:ext>
            </a:extLst>
          </p:cNvPr>
          <p:cNvSpPr/>
          <p:nvPr/>
        </p:nvSpPr>
        <p:spPr>
          <a:xfrm>
            <a:off x="356616" y="3450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Frontend UI</a:t>
            </a:r>
            <a:endParaRPr lang="en-US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5D927BC6-CE6F-AB1D-0736-1188B92E9192}"/>
              </a:ext>
            </a:extLst>
          </p:cNvPr>
          <p:cNvSpPr/>
          <p:nvPr/>
        </p:nvSpPr>
        <p:spPr>
          <a:xfrm>
            <a:off x="3383280" y="3499865"/>
            <a:ext cx="5605272" cy="2268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browser interface built with HTML, CSS, and JavaScript.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chat messages dynamically without page reloads.</a:t>
            </a:r>
            <a:endParaRPr lang="en-US" sz="160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ECB799A6-CC52-941F-722B-257837CB5217}"/>
              </a:ext>
            </a:extLst>
          </p:cNvPr>
          <p:cNvSpPr/>
          <p:nvPr/>
        </p:nvSpPr>
        <p:spPr>
          <a:xfrm>
            <a:off x="356616" y="4049492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D165138D-423C-A447-1C24-FE425CCE3407}"/>
              </a:ext>
            </a:extLst>
          </p:cNvPr>
          <p:cNvSpPr/>
          <p:nvPr/>
        </p:nvSpPr>
        <p:spPr>
          <a:xfrm>
            <a:off x="411480" y="417274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Deployment</a:t>
            </a:r>
            <a:endParaRPr lang="en-US" dirty="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16ABD525-3323-CA68-1CE4-DC954C96CB0F}"/>
              </a:ext>
            </a:extLst>
          </p:cNvPr>
          <p:cNvSpPr/>
          <p:nvPr/>
        </p:nvSpPr>
        <p:spPr>
          <a:xfrm>
            <a:off x="3383280" y="4035282"/>
            <a:ext cx="5482424" cy="65448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deployed on Render cloud platform.</a:t>
            </a:r>
          </a:p>
          <a:p>
            <a:r>
              <a:rPr lang="en-GB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deployment triggered via GitHub integration.</a:t>
            </a:r>
            <a:endParaRPr lang="en-US" sz="1600" dirty="0"/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35D066B3-9578-BB30-F976-3455D8C7AF7A}"/>
              </a:ext>
            </a:extLst>
          </p:cNvPr>
          <p:cNvSpPr/>
          <p:nvPr/>
        </p:nvSpPr>
        <p:spPr>
          <a:xfrm>
            <a:off x="365760" y="4677349"/>
            <a:ext cx="84124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280160" y="854310"/>
            <a:ext cx="75438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UML – Use Case Diagram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80160" y="868680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  Open Chat Application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1916262"/>
            <a:ext cx="329184" cy="32918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0" name="Shape 8"/>
          <p:cNvSpPr/>
          <p:nvPr/>
        </p:nvSpPr>
        <p:spPr>
          <a:xfrm>
            <a:off x="338328" y="2245446"/>
            <a:ext cx="27432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1" name="Shape 9"/>
          <p:cNvSpPr/>
          <p:nvPr/>
        </p:nvSpPr>
        <p:spPr>
          <a:xfrm>
            <a:off x="164592" y="2391750"/>
            <a:ext cx="402336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2" name="Shape 10"/>
          <p:cNvSpPr/>
          <p:nvPr/>
        </p:nvSpPr>
        <p:spPr>
          <a:xfrm>
            <a:off x="219456" y="2629494"/>
            <a:ext cx="27432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3" name="Shape 11"/>
          <p:cNvSpPr/>
          <p:nvPr/>
        </p:nvSpPr>
        <p:spPr>
          <a:xfrm>
            <a:off x="457200" y="2629494"/>
            <a:ext cx="27432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4" name="Text 12"/>
          <p:cNvSpPr/>
          <p:nvPr/>
        </p:nvSpPr>
        <p:spPr>
          <a:xfrm>
            <a:off x="109728" y="299525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08760" y="1440774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6" name="Text 14"/>
          <p:cNvSpPr/>
          <p:nvPr/>
        </p:nvSpPr>
        <p:spPr>
          <a:xfrm>
            <a:off x="1719072" y="144077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Room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1632798"/>
            <a:ext cx="941832" cy="18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8" name="Shape 16"/>
          <p:cNvSpPr/>
          <p:nvPr/>
        </p:nvSpPr>
        <p:spPr>
          <a:xfrm>
            <a:off x="5120640" y="1440774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9" name="Text 17"/>
          <p:cNvSpPr/>
          <p:nvPr/>
        </p:nvSpPr>
        <p:spPr>
          <a:xfrm>
            <a:off x="5120640" y="144077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Password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08760" y="2245446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2" name="Text 20"/>
          <p:cNvSpPr/>
          <p:nvPr/>
        </p:nvSpPr>
        <p:spPr>
          <a:xfrm>
            <a:off x="1719072" y="224544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2437470"/>
            <a:ext cx="941832" cy="18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4" name="Shape 22"/>
          <p:cNvSpPr/>
          <p:nvPr/>
        </p:nvSpPr>
        <p:spPr>
          <a:xfrm>
            <a:off x="5120640" y="2245446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5" name="Text 23"/>
          <p:cNvSpPr/>
          <p:nvPr/>
        </p:nvSpPr>
        <p:spPr>
          <a:xfrm>
            <a:off x="5120640" y="224544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Online Users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508760" y="3050118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8" name="Text 26"/>
          <p:cNvSpPr/>
          <p:nvPr/>
        </p:nvSpPr>
        <p:spPr>
          <a:xfrm>
            <a:off x="1719072" y="305011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Room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" y="3242142"/>
            <a:ext cx="941832" cy="18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0" name="Shape 28"/>
          <p:cNvSpPr/>
          <p:nvPr/>
        </p:nvSpPr>
        <p:spPr>
          <a:xfrm>
            <a:off x="5120640" y="3050118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1" name="Text 29"/>
          <p:cNvSpPr/>
          <p:nvPr/>
        </p:nvSpPr>
        <p:spPr>
          <a:xfrm>
            <a:off x="5120640" y="305011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Typing Indicator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508760" y="3854790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4" name="Text 32"/>
          <p:cNvSpPr/>
          <p:nvPr/>
        </p:nvSpPr>
        <p:spPr>
          <a:xfrm>
            <a:off x="1719072" y="385479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6928" y="4046814"/>
            <a:ext cx="941832" cy="1828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6" name="Shape 34"/>
          <p:cNvSpPr/>
          <p:nvPr/>
        </p:nvSpPr>
        <p:spPr>
          <a:xfrm>
            <a:off x="5120640" y="3854790"/>
            <a:ext cx="2423160" cy="402336"/>
          </a:xfrm>
          <a:prstGeom prst="ellipse">
            <a:avLst/>
          </a:prstGeom>
          <a:solidFill>
            <a:srgbClr val="F0F4F8"/>
          </a:solidFill>
          <a:ln w="16510">
            <a:solidFill>
              <a:srgbClr val="00B4D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7" name="Text 35"/>
          <p:cNvSpPr/>
          <p:nvPr/>
        </p:nvSpPr>
        <p:spPr>
          <a:xfrm>
            <a:off x="5120640" y="385479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Room</a:t>
            </a:r>
            <a:endParaRPr lang="en-US" sz="1400" dirty="0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39555CC5-B6DB-8C20-AEFD-5BBFFC3C22D1}"/>
              </a:ext>
            </a:extLst>
          </p:cNvPr>
          <p:cNvSpPr/>
          <p:nvPr/>
        </p:nvSpPr>
        <p:spPr>
          <a:xfrm>
            <a:off x="246888" y="2606634"/>
            <a:ext cx="237744" cy="45719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64497601-B006-2481-FBCC-0D561CA632DD}"/>
              </a:ext>
            </a:extLst>
          </p:cNvPr>
          <p:cNvSpPr/>
          <p:nvPr/>
        </p:nvSpPr>
        <p:spPr>
          <a:xfrm>
            <a:off x="3931920" y="1628909"/>
            <a:ext cx="1188720" cy="45719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A8E4912C-FEC5-DAB6-02B1-9A96BE951F41}"/>
              </a:ext>
            </a:extLst>
          </p:cNvPr>
          <p:cNvSpPr/>
          <p:nvPr/>
        </p:nvSpPr>
        <p:spPr>
          <a:xfrm>
            <a:off x="3940633" y="2421382"/>
            <a:ext cx="1188720" cy="45719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5FA290D-33DD-1404-55DF-FBEC8E60A38B}"/>
              </a:ext>
            </a:extLst>
          </p:cNvPr>
          <p:cNvSpPr/>
          <p:nvPr/>
        </p:nvSpPr>
        <p:spPr>
          <a:xfrm>
            <a:off x="3940634" y="3231284"/>
            <a:ext cx="1188720" cy="45719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D7A3BF2E-6B4C-4BFA-EBE6-FE3D217A99BF}"/>
              </a:ext>
            </a:extLst>
          </p:cNvPr>
          <p:cNvSpPr/>
          <p:nvPr/>
        </p:nvSpPr>
        <p:spPr>
          <a:xfrm>
            <a:off x="3940636" y="4041174"/>
            <a:ext cx="1188720" cy="45719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UML – Class Diagram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265176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960120"/>
            <a:ext cx="26517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9669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" y="11978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ChatServer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2880" y="1435608"/>
            <a:ext cx="2651760" cy="731520"/>
          </a:xfrm>
          <a:prstGeom prst="rect">
            <a:avLst/>
          </a:prstGeom>
          <a:solidFill>
            <a:srgbClr val="F0F4F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5270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port : Number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" y="18013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rooms : Map&lt;String, Room&gt;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" y="2167128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2585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listen() : void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" y="25328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handleConnection(socket)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960120"/>
            <a:ext cx="2651760" cy="331012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960120"/>
            <a:ext cx="26517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99669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46120" y="11978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46120" y="1435608"/>
            <a:ext cx="2651760" cy="1554480"/>
          </a:xfrm>
          <a:prstGeom prst="rect">
            <a:avLst/>
          </a:prstGeom>
          <a:solidFill>
            <a:srgbClr val="F0F4F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5270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roomId : String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55848" y="18013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name : String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55848" y="20756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password : String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55848" y="235000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maxUsers : Number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55848" y="26243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users : List&lt;User&gt;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46120" y="2990088"/>
            <a:ext cx="26517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08152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addUser(u) : void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55848" y="33558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removeUser(id) : void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55848" y="36301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isEmpty() : Boolean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55848" y="39044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isPrivate() : Boolean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960120"/>
            <a:ext cx="2651760" cy="221284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960120"/>
            <a:ext cx="26517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99669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11978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309360" y="1435608"/>
            <a:ext cx="2651760" cy="1005840"/>
          </a:xfrm>
          <a:prstGeom prst="rect">
            <a:avLst/>
          </a:prstGeom>
          <a:solidFill>
            <a:srgbClr val="F0F4F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152704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socketId : String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19088" y="18013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username : String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19088" y="20756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roomId : String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9360" y="2441448"/>
            <a:ext cx="26517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253288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sendMessage(msg) : void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19088" y="280720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disconnect() : void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834640" y="1197864"/>
            <a:ext cx="41148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61488" y="10241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008376" y="103327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118104" y="114300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97880" y="1197864"/>
            <a:ext cx="41148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39112" y="102543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061137" y="10515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181344" y="1143000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UML – Sequence Diagram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786384"/>
            <a:ext cx="173736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76809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" y="124358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" y="146304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168249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90195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212140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" y="234086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" y="256032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277977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416" y="299923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321868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" y="343814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" y="365760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" y="387705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" y="409651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" y="431596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" y="453542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2416" y="475488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786384"/>
            <a:ext cx="173736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7863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74136" y="124358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74136" y="146304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74136" y="168249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74136" y="190195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4136" y="212140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74136" y="234086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74136" y="256032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74136" y="277977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74136" y="299923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74136" y="321868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74136" y="343814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74136" y="365760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74136" y="387705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74136" y="409651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74136" y="431596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74136" y="453542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74136" y="475488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786384"/>
            <a:ext cx="173736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7863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05856" y="124358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05856" y="146304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05856" y="168249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05856" y="190195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05856" y="212140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05856" y="234086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05856" y="256032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05856" y="277977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05856" y="299923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05856" y="321868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05856" y="343814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05856" y="365760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05856" y="387705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05856" y="409651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05856" y="431596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05856" y="453542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05856" y="475488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78040" y="786384"/>
            <a:ext cx="173736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7863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037576" y="124358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37576" y="146304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37576" y="168249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37576" y="190195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37576" y="212140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37576" y="234086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37576" y="256032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37576" y="277977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37576" y="299923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37576" y="321868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37576" y="343814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37576" y="365760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37576" y="3877056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37576" y="4096512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37576" y="4315968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37576" y="4535424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37576" y="4754880"/>
            <a:ext cx="18288" cy="1188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" y="1517904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64408" y="146304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1440180" y="13167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connect()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3319272" y="1481328"/>
            <a:ext cx="128016" cy="20116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51560" y="1883664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64408" y="182880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440180" y="1682496"/>
            <a:ext cx="19431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joinRoom(name, pass)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3319272" y="1847088"/>
            <a:ext cx="128016" cy="20116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383280" y="2249424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596128" y="219456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3771900" y="20482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emit('join-room')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5650992" y="2212848"/>
            <a:ext cx="128016" cy="20116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15000" y="2615184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927848" y="256032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6103620" y="24140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validateRoom()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7982712" y="2578608"/>
            <a:ext cx="128016" cy="201168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715000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879592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044184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208776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73368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537960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02552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867144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031736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196328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360920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525512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690104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854696" y="298094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715000" y="292608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6103620" y="277977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error</a:t>
            </a:r>
            <a:endParaRPr lang="en-US" sz="1400" dirty="0"/>
          </a:p>
        </p:txBody>
      </p:sp>
      <p:sp>
        <p:nvSpPr>
          <p:cNvPr id="115" name="Shape 113"/>
          <p:cNvSpPr/>
          <p:nvPr/>
        </p:nvSpPr>
        <p:spPr>
          <a:xfrm>
            <a:off x="3383280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547872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712464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877056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041648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06240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70832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35424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00016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864608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029200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93792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358384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522976" y="334670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383280" y="329184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200" dirty="0"/>
          </a:p>
        </p:txBody>
      </p:sp>
      <p:sp>
        <p:nvSpPr>
          <p:cNvPr id="130" name="Text 128"/>
          <p:cNvSpPr/>
          <p:nvPr/>
        </p:nvSpPr>
        <p:spPr>
          <a:xfrm>
            <a:off x="3771900" y="314553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emit('user-joined')</a:t>
            </a:r>
            <a:endParaRPr lang="en-US" sz="1400" dirty="0"/>
          </a:p>
        </p:txBody>
      </p:sp>
      <p:sp>
        <p:nvSpPr>
          <p:cNvPr id="131" name="Shape 129"/>
          <p:cNvSpPr/>
          <p:nvPr/>
        </p:nvSpPr>
        <p:spPr>
          <a:xfrm>
            <a:off x="1051560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16152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380744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45336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709928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874520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039112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203704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368296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32888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697480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62072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026664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191256" y="3712464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51560" y="365760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200" dirty="0"/>
          </a:p>
        </p:txBody>
      </p:sp>
      <p:sp>
        <p:nvSpPr>
          <p:cNvPr id="146" name="Text 144"/>
          <p:cNvSpPr/>
          <p:nvPr/>
        </p:nvSpPr>
        <p:spPr>
          <a:xfrm>
            <a:off x="1440180" y="35112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updateUI(users)</a:t>
            </a:r>
            <a:endParaRPr lang="en-US" sz="1400" dirty="0"/>
          </a:p>
        </p:txBody>
      </p:sp>
      <p:sp>
        <p:nvSpPr>
          <p:cNvPr id="147" name="Shape 145"/>
          <p:cNvSpPr/>
          <p:nvPr/>
        </p:nvSpPr>
        <p:spPr>
          <a:xfrm>
            <a:off x="987552" y="3675888"/>
            <a:ext cx="128016" cy="18288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51560" y="4078224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264408" y="402336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0" name="Text 148"/>
          <p:cNvSpPr/>
          <p:nvPr/>
        </p:nvSpPr>
        <p:spPr>
          <a:xfrm>
            <a:off x="1440180" y="387705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sendMessage(text)</a:t>
            </a:r>
            <a:endParaRPr lang="en-US" sz="1400" dirty="0"/>
          </a:p>
        </p:txBody>
      </p:sp>
      <p:sp>
        <p:nvSpPr>
          <p:cNvPr id="151" name="Shape 149"/>
          <p:cNvSpPr/>
          <p:nvPr/>
        </p:nvSpPr>
        <p:spPr>
          <a:xfrm>
            <a:off x="3319272" y="4041648"/>
            <a:ext cx="128016" cy="18288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383280" y="4416552"/>
            <a:ext cx="233172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596128" y="4361688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4" name="Text 152"/>
          <p:cNvSpPr/>
          <p:nvPr/>
        </p:nvSpPr>
        <p:spPr>
          <a:xfrm>
            <a:off x="3771900" y="421538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emit('message')</a:t>
            </a:r>
            <a:endParaRPr lang="en-US" sz="1400" dirty="0"/>
          </a:p>
        </p:txBody>
      </p:sp>
      <p:sp>
        <p:nvSpPr>
          <p:cNvPr id="155" name="Shape 153"/>
          <p:cNvSpPr/>
          <p:nvPr/>
        </p:nvSpPr>
        <p:spPr>
          <a:xfrm>
            <a:off x="5650992" y="4379976"/>
            <a:ext cx="128016" cy="182880"/>
          </a:xfrm>
          <a:prstGeom prst="rect">
            <a:avLst/>
          </a:prstGeom>
          <a:solidFill>
            <a:srgbClr val="00B4D8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383280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547872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712464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877056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041648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206240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370832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535424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700016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864608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029200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193792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358384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22976" y="4745736"/>
            <a:ext cx="9144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383280" y="4690872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200" dirty="0"/>
          </a:p>
        </p:txBody>
      </p:sp>
      <p:sp>
        <p:nvSpPr>
          <p:cNvPr id="171" name="Text 169"/>
          <p:cNvSpPr/>
          <p:nvPr/>
        </p:nvSpPr>
        <p:spPr>
          <a:xfrm>
            <a:off x="3771900" y="45445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to room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UML – Activity Diagram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480560" y="705670"/>
            <a:ext cx="167770" cy="19121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02610" y="2776201"/>
            <a:ext cx="18288" cy="1280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0314" y="2867641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3118897" y="2995657"/>
            <a:ext cx="2926080" cy="402336"/>
          </a:xfrm>
          <a:prstGeom prst="rect">
            <a:avLst/>
          </a:prstGeom>
          <a:solidFill>
            <a:srgbClr val="FFFFFF"/>
          </a:solidFill>
          <a:ln w="1778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8041" y="2995657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62856" y="1320720"/>
            <a:ext cx="18288" cy="137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412949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3657600" y="1489686"/>
            <a:ext cx="1828800" cy="621792"/>
          </a:xfrm>
          <a:prstGeom prst="rect">
            <a:avLst/>
          </a:prstGeom>
          <a:solidFill>
            <a:srgbClr val="F0F4F8"/>
          </a:solidFill>
          <a:ln w="2286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48968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Join?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1791438"/>
            <a:ext cx="228600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24146" y="153540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[Create]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107107"/>
            <a:ext cx="2286000" cy="438912"/>
          </a:xfrm>
          <a:prstGeom prst="rect">
            <a:avLst/>
          </a:prstGeom>
          <a:solidFill>
            <a:srgbClr val="FFFFFF"/>
          </a:solidFill>
          <a:ln w="1651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07107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(name, public/private)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791438"/>
            <a:ext cx="228600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535406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[Join]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37960" y="2107107"/>
            <a:ext cx="2286000" cy="438912"/>
          </a:xfrm>
          <a:prstGeom prst="rect">
            <a:avLst/>
          </a:prstGeom>
          <a:solidFill>
            <a:srgbClr val="FFFFFF"/>
          </a:solidFill>
          <a:ln w="1651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107107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Room</a:t>
            </a:r>
            <a:endParaRPr lang="en-US" sz="900" dirty="0"/>
          </a:p>
          <a:p>
            <a:pPr algn="ctr"/>
            <a:r>
              <a:rPr lang="en-IN" sz="900" dirty="0"/>
              <a:t>(enter password if private)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62456" y="2546019"/>
            <a:ext cx="1828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63256" y="2546019"/>
            <a:ext cx="1828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2811195"/>
            <a:ext cx="6400800" cy="182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33039" y="3376926"/>
            <a:ext cx="18288" cy="91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50743" y="3431790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108960" y="3559807"/>
            <a:ext cx="2926080" cy="402336"/>
          </a:xfrm>
          <a:prstGeom prst="rect">
            <a:avLst/>
          </a:prstGeom>
          <a:solidFill>
            <a:srgbClr val="FFFFFF"/>
          </a:solidFill>
          <a:ln w="1778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559807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 —  send messages, typing, user count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62856" y="3962143"/>
            <a:ext cx="18288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3998719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3108960" y="4126735"/>
            <a:ext cx="2926080" cy="402336"/>
          </a:xfrm>
          <a:prstGeom prst="rect">
            <a:avLst/>
          </a:prstGeom>
          <a:solidFill>
            <a:srgbClr val="FFFFFF"/>
          </a:solidFill>
          <a:ln w="1778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4126735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 →  auto cleanup if last user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62856" y="4529071"/>
            <a:ext cx="18288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4547359"/>
            <a:ext cx="182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383551" y="4675375"/>
            <a:ext cx="378082" cy="385829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74991" y="4766815"/>
            <a:ext cx="217071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Shape 24">
            <a:extLst>
              <a:ext uri="{FF2B5EF4-FFF2-40B4-BE49-F238E27FC236}">
                <a16:creationId xmlns:a16="http://schemas.microsoft.com/office/drawing/2014/main" id="{1A4D6A4A-0DE1-884A-6E9B-2F1B54F4A51C}"/>
              </a:ext>
            </a:extLst>
          </p:cNvPr>
          <p:cNvSpPr/>
          <p:nvPr/>
        </p:nvSpPr>
        <p:spPr>
          <a:xfrm>
            <a:off x="1366564" y="1823643"/>
            <a:ext cx="1828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EEA0BFC9-176B-07D0-59D3-34169E660983}"/>
              </a:ext>
            </a:extLst>
          </p:cNvPr>
          <p:cNvSpPr/>
          <p:nvPr/>
        </p:nvSpPr>
        <p:spPr>
          <a:xfrm>
            <a:off x="7764846" y="1823643"/>
            <a:ext cx="1828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0FFFC044-66C2-B8A7-27A0-8FF3E18A9B05}"/>
              </a:ext>
            </a:extLst>
          </p:cNvPr>
          <p:cNvSpPr/>
          <p:nvPr/>
        </p:nvSpPr>
        <p:spPr>
          <a:xfrm>
            <a:off x="3148714" y="1001877"/>
            <a:ext cx="2926080" cy="402336"/>
          </a:xfrm>
          <a:prstGeom prst="rect">
            <a:avLst/>
          </a:prstGeom>
          <a:solidFill>
            <a:srgbClr val="FFFFFF"/>
          </a:solidFill>
          <a:ln w="17780">
            <a:solidFill>
              <a:srgbClr val="00B4D8"/>
            </a:solidFill>
            <a:prstDash val="solid"/>
          </a:ln>
        </p:spPr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C45EE4D3-FE3C-F595-5D16-8325BDA3C2D7}"/>
              </a:ext>
            </a:extLst>
          </p:cNvPr>
          <p:cNvSpPr/>
          <p:nvPr/>
        </p:nvSpPr>
        <p:spPr>
          <a:xfrm>
            <a:off x="3157858" y="1001877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Website</a:t>
            </a:r>
            <a:endParaRPr lang="en-US" sz="1000" dirty="0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84B7850B-D8AD-E7BD-3F5D-832E7305CA5A}"/>
              </a:ext>
            </a:extLst>
          </p:cNvPr>
          <p:cNvSpPr/>
          <p:nvPr/>
        </p:nvSpPr>
        <p:spPr>
          <a:xfrm>
            <a:off x="4565239" y="832874"/>
            <a:ext cx="18288" cy="1280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EDEA1-7B02-1BAA-7A75-453153D2C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01C25E-223A-0B12-9680-10A3922244C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4D338A-BB81-281E-0D7C-60330F997DBE}"/>
              </a:ext>
            </a:extLst>
          </p:cNvPr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FD0588F-B54B-FA64-50A3-277154B1E70E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19DC61-E6BD-97F2-9699-25AF23E405BB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10A6E6C-7B98-726D-3203-272E474BE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419" y="1430343"/>
            <a:ext cx="4625507" cy="203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22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A9E0-E291-6181-7C25-A2C2FC46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CAF777-B92A-5EF7-7AA8-31EE5F4C669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A0CA24-9CE4-389D-5D84-F3EDAEDC3192}"/>
              </a:ext>
            </a:extLst>
          </p:cNvPr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A02D95F-C920-E95C-6BAF-56EA64B946AF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C554F3E-1ABE-19D2-338D-E0D7528A2A1D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F4B131-BB6B-BA19-294D-E1B00BA72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" y="975770"/>
            <a:ext cx="4358640" cy="4036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784448-E156-4530-496B-757AB8473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045" y="975770"/>
            <a:ext cx="4621475" cy="4036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848FF9-4FA9-3B02-0039-CD6533C54840}"/>
              </a:ext>
            </a:extLst>
          </p:cNvPr>
          <p:cNvSpPr txBox="1"/>
          <p:nvPr/>
        </p:nvSpPr>
        <p:spPr>
          <a:xfrm>
            <a:off x="-5862" y="664874"/>
            <a:ext cx="4577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rtrpServer.js - 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505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0630-1FAF-812E-2C26-B60F08F4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3DD88A-BB52-DAE6-4DEF-D0E1B77AEC8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2383E17-F2A3-A0DC-E64D-1EB25A121C4B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4F0EF16-D027-B3AA-6CAF-9BCA9907D527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827C80-B00C-A54F-B5D9-051FC7D4E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50" y="797468"/>
            <a:ext cx="3953438" cy="42637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C55741-902C-B211-7FA0-F2611A016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186" y="797468"/>
            <a:ext cx="4485164" cy="426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78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3B5DF-8F5E-A935-04B7-304A84B9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F01BD6-77D9-1D49-4EA1-4821BF6262F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0CC9BD1-37ED-9FF3-307A-7408682264AC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EB14F1-DC1C-00FA-387E-4E926AAE3C65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288610-FBE2-F246-10E6-2C0CAAF54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177" y="658368"/>
            <a:ext cx="4428750" cy="431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576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CAC7-061B-E1F8-6987-3CBF87061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0F3464-B141-8F38-9DB9-96257211EBD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896530-9D8A-6519-2FC8-6D9A8AAC4FD3}"/>
              </a:ext>
            </a:extLst>
          </p:cNvPr>
          <p:cNvSpPr/>
          <p:nvPr/>
        </p:nvSpPr>
        <p:spPr>
          <a:xfrm>
            <a:off x="434340" y="63093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Desktop-view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B4D352B-9E23-FF50-DAB4-1F26E140D43C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0FA8C2-B830-F3A2-E96D-FE421A3B8628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55DFB6-0676-C786-EAED-78BA55978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927" y="1259774"/>
            <a:ext cx="6082145" cy="3074352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9FE21CA5-5CD9-8673-4C29-55D05E28D4BF}"/>
              </a:ext>
            </a:extLst>
          </p:cNvPr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94642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1F490-3501-A670-F387-A07F51FE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94CAD3-39F5-8767-9599-746339095A8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89856B-C6D2-0EF4-FAF6-A720261178A8}"/>
              </a:ext>
            </a:extLst>
          </p:cNvPr>
          <p:cNvSpPr/>
          <p:nvPr/>
        </p:nvSpPr>
        <p:spPr>
          <a:xfrm>
            <a:off x="365760" y="2963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Create-room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AB0990-214D-C457-26DB-4E9F67D1AD32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FCFED7B-C57A-F9AD-F32A-0D4C48D2A8E4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656CB4-2632-D5EC-164E-DD24FB632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09" y="1099187"/>
            <a:ext cx="6664036" cy="336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878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DB8E0-B7B6-69B3-8BEB-0AF52A44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4B5107-7B35-2FE6-11BB-18D0C08BE2F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098CDE-1D88-07A1-C8BA-22E9399FF020}"/>
              </a:ext>
            </a:extLst>
          </p:cNvPr>
          <p:cNvSpPr/>
          <p:nvPr/>
        </p:nvSpPr>
        <p:spPr>
          <a:xfrm>
            <a:off x="365760" y="183711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Chat-room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AAD93F-1502-8F1F-8B89-F30671BD03D8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1224AA-3770-A0BE-6C64-F3A6226F866B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B3CC2F-93CB-B956-97BB-0D5B2D9E7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20" y="704088"/>
            <a:ext cx="8139620" cy="409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36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0C819-60AE-E212-7D11-3DF12F42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8F81FE-2E3A-A236-FE08-D1FF34A52FF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E6B27F-095E-42F5-43BB-D75EA334B8E9}"/>
              </a:ext>
            </a:extLst>
          </p:cNvPr>
          <p:cNvSpPr/>
          <p:nvPr/>
        </p:nvSpPr>
        <p:spPr>
          <a:xfrm>
            <a:off x="365760" y="35661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Mobile-view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C825E78-1BCA-B93E-8DD9-BA2D6C0C6E10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05E8E3-AE8A-AFDA-E463-053E66267268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426EB8-62C4-E7DE-DFC5-5E2C74A51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566" y="478536"/>
            <a:ext cx="2126867" cy="440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036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3DD77-F3F4-B5EB-5AAC-0170E0AF2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DBD82E-4B35-8553-405D-F8F950D082F3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65DDF9-FD13-3A42-80ED-73738121D121}"/>
              </a:ext>
            </a:extLst>
          </p:cNvPr>
          <p:cNvSpPr/>
          <p:nvPr/>
        </p:nvSpPr>
        <p:spPr>
          <a:xfrm>
            <a:off x="365760" y="12801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BE0B893-B0A8-0271-04BD-741E8F7890D9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2BD850-B232-7740-A920-3D7B5CBBF9AD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E6900A3-AE0F-8899-B0C8-BAC6C2582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1090459"/>
            <a:ext cx="841248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1.Message Reactions &amp; Emojis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Add emoji reactions per message, broadcasted to all users in the room.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File &amp; Image Sharing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Support small files via Base64 encoding, larger assets via HTTP upload.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Room Moderation 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Allow owners to set message rate limits, or transfer ownership.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4.Horizontal Scalability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Use Socket.IO Redis Adapter to synchronize events across multiple servers.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80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084290-F4BF-E37D-D22F-A959B8CAA1E9}"/>
              </a:ext>
            </a:extLst>
          </p:cNvPr>
          <p:cNvSpPr txBox="1"/>
          <p:nvPr/>
        </p:nvSpPr>
        <p:spPr>
          <a:xfrm>
            <a:off x="581688" y="907965"/>
            <a:ext cx="79806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Designed and implemented a real-time multi-user chat system using WebSocket-based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Users can create or join chat rooms and exchange messages instantly through an event-driven architecture.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system uses a lightweight backend with in-memory room management and no database dependency.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application is successfully deployed on Render and accessible from any modern web browser.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2E55ACB-180B-5D94-3316-613E4DD07CF4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6CB9563-EF3B-5E86-9CF1-4B3C2C5D9939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5276A-BD83-1F80-1EEE-9A3FA1EA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49EABA-8A05-905E-D0BD-2098987EB0F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3AE4FD-D54C-A27B-1AAA-D3FC0FE4D91A}"/>
              </a:ext>
            </a:extLst>
          </p:cNvPr>
          <p:cNvSpPr/>
          <p:nvPr/>
        </p:nvSpPr>
        <p:spPr>
          <a:xfrm>
            <a:off x="365760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EE18DF-9D56-4B11-5FDB-0DB5FA51947B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0464C8-912E-6E8A-7EB2-20C173A182DB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441E7BD-A79A-3A50-0992-B659B6357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36" y="1112972"/>
            <a:ext cx="880456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RFC 6455 – WebSocket Protocol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full-duplex, persistent communication between browser and server.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Socket.IO Framework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LearnBoost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2010)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Event-driven library adding reliability, rooms, and reconnection features.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3.Existing Platforms (Slack, Discord,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Rocket.Chat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Mattermost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Heavy infrastructure, complex setup, not beginner-friendly.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4.Render Cloud Deployment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CI/CD integration with HTTPS for live hosting.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42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ADA6B-E4F9-26C2-DFB3-036686AB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0C0B50-241D-1C96-5F47-1052F9287EA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4429F92-A7CF-3F7B-9100-1ABC0A58533B}"/>
              </a:ext>
            </a:extLst>
          </p:cNvPr>
          <p:cNvSpPr/>
          <p:nvPr/>
        </p:nvSpPr>
        <p:spPr>
          <a:xfrm>
            <a:off x="241069" y="822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E3BFB5-4802-D78B-64F8-6130BCD9E63C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FBE186-ED53-6AF7-4E15-CDDADFF7DDFC}"/>
              </a:ext>
            </a:extLst>
          </p:cNvPr>
          <p:cNvSpPr/>
          <p:nvPr/>
        </p:nvSpPr>
        <p:spPr>
          <a:xfrm>
            <a:off x="8549640" y="128016"/>
            <a:ext cx="438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4C9C30-E11E-C0EB-2F6F-2384117D98DC}"/>
              </a:ext>
            </a:extLst>
          </p:cNvPr>
          <p:cNvSpPr txBox="1"/>
          <p:nvPr/>
        </p:nvSpPr>
        <p:spPr>
          <a:xfrm>
            <a:off x="332712" y="1101619"/>
            <a:ext cx="5891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GitHub</a:t>
            </a:r>
            <a:r>
              <a:rPr lang="en-IN" dirty="0"/>
              <a:t>-</a:t>
            </a:r>
            <a:r>
              <a:rPr lang="en-IN" dirty="0">
                <a:solidFill>
                  <a:srgbClr val="00B0F0"/>
                </a:solidFill>
              </a:rPr>
              <a:t>https://github.com/Harshith1702/Open_Chat_Application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E82993-6F40-DB09-7C68-E47323FE0BDB}"/>
              </a:ext>
            </a:extLst>
          </p:cNvPr>
          <p:cNvSpPr txBox="1"/>
          <p:nvPr/>
        </p:nvSpPr>
        <p:spPr>
          <a:xfrm>
            <a:off x="332712" y="2066189"/>
            <a:ext cx="6206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Live (Deployed)-</a:t>
            </a:r>
            <a:br>
              <a:rPr lang="en-IN" dirty="0"/>
            </a:br>
            <a:r>
              <a:rPr lang="en-IN" dirty="0">
                <a:solidFill>
                  <a:srgbClr val="00B0F0"/>
                </a:solidFill>
              </a:rPr>
              <a:t>https://open-chat-application-ubti.onrender.com/</a:t>
            </a: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F2D81EE6-B4ED-47C5-A5B4-A058F977FE42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252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1403</Words>
  <Application>Microsoft Office PowerPoint</Application>
  <PresentationFormat>On-screen Show (16:9)</PresentationFormat>
  <Paragraphs>343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Padakanti Harshith</cp:lastModifiedBy>
  <cp:revision>10</cp:revision>
  <dcterms:created xsi:type="dcterms:W3CDTF">2026-03-15T11:13:52Z</dcterms:created>
  <dcterms:modified xsi:type="dcterms:W3CDTF">2026-03-27T18:21:24Z</dcterms:modified>
</cp:coreProperties>
</file>