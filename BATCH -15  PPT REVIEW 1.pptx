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466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582029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CMR Technical Campus  ·  CSE Department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512064"/>
            <a:ext cx="8046720" cy="2377440"/>
          </a:xfrm>
          <a:prstGeom prst="rect">
            <a:avLst/>
          </a:prstGeom>
          <a:solidFill>
            <a:srgbClr val="F2F2F2"/>
          </a:solidFill>
          <a:ln w="22860">
            <a:solidFill>
              <a:srgbClr val="00B4D8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512064"/>
            <a:ext cx="804672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and Implementation of a</a:t>
            </a:r>
            <a:endParaRPr lang="en-US" sz="2300" dirty="0"/>
          </a:p>
          <a:p>
            <a:pPr marL="0" indent="0" algn="ctr">
              <a:buNone/>
            </a:pPr>
            <a:r>
              <a:rPr lang="en-US" sz="2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Multi-User Web Chat System</a:t>
            </a:r>
            <a:endParaRPr lang="en-US" sz="2300" dirty="0"/>
          </a:p>
          <a:p>
            <a:pPr marL="0" indent="0" algn="ctr">
              <a:buNone/>
            </a:pPr>
            <a:r>
              <a:rPr lang="en-US" sz="2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WebSockets</a:t>
            </a:r>
            <a:endParaRPr lang="en-US" sz="2300" dirty="0"/>
          </a:p>
        </p:txBody>
      </p:sp>
      <p:sp>
        <p:nvSpPr>
          <p:cNvPr id="7" name="Shape 5"/>
          <p:cNvSpPr/>
          <p:nvPr/>
        </p:nvSpPr>
        <p:spPr>
          <a:xfrm>
            <a:off x="1828800" y="3035808"/>
            <a:ext cx="54864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145536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Chat  ·  RTRP Review I  ·  2025–26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57200" y="3547872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15</a:t>
            </a: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57200" y="3822192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K. Vishnu Teja (247R1A0595)     ·     P. Harshith (247R1A05B0)     ·     P. Gnyaneshwar (247R1A05B2)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4096512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</a:t>
            </a:r>
            <a:r>
              <a:rPr lang="en-US" sz="120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Dr. V. Naresh Kumar, Associate Professor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455371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open-chat-application-ubti.onrender.com  ·  github.com/Harshith1702/Open_Chat_Application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549640" y="4809744"/>
            <a:ext cx="438912" cy="237744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549640" y="4809744"/>
            <a:ext cx="4389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 Abstract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8549640" y="128016"/>
            <a:ext cx="438912" cy="23774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9640" y="128016"/>
            <a:ext cx="4389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84048" y="890146"/>
            <a:ext cx="291824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Open Chat?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16647" y="1247560"/>
            <a:ext cx="4880910" cy="9541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GB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Chat is a lightweight real-time communication system that enables multiple users to create or join chat rooms and exchange messages instantly using WebSocket-based communication.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GB" sz="1600" dirty="0">
              <a:solidFill>
                <a:srgbClr val="333333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GB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demonstrates an event-driven architecture for real-time messaging using Node.js, Express, and Socket.IO.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28773" y="3372925"/>
            <a:ext cx="1254318" cy="32799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</a:t>
            </a:r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17" name="Shape 15"/>
          <p:cNvSpPr/>
          <p:nvPr/>
        </p:nvSpPr>
        <p:spPr>
          <a:xfrm>
            <a:off x="5243881" y="927584"/>
            <a:ext cx="3635437" cy="1123781"/>
          </a:xfrm>
          <a:prstGeom prst="rect">
            <a:avLst/>
          </a:prstGeom>
          <a:solidFill>
            <a:srgbClr val="FFFFFF"/>
          </a:solidFill>
          <a:ln w="10160">
            <a:solidFill>
              <a:srgbClr val="00B4D8"/>
            </a:solidFill>
            <a:prstDash val="solid"/>
          </a:ln>
          <a:effectLst>
            <a:outerShdw blurRad="76200" dist="254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243883" y="927584"/>
            <a:ext cx="50476" cy="1123781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298747" y="1026538"/>
            <a:ext cx="267520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Rooms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5335323" y="1469490"/>
            <a:ext cx="4147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GB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create or join chat rooms.</a:t>
            </a:r>
          </a:p>
          <a:p>
            <a:r>
              <a:rPr lang="en-GB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Rooms may be public or password-protected.</a:t>
            </a:r>
          </a:p>
          <a:p>
            <a:r>
              <a:rPr lang="en-GB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Inactive rooms are automatically removed.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243883" y="2256575"/>
            <a:ext cx="3635435" cy="1274193"/>
          </a:xfrm>
          <a:prstGeom prst="rect">
            <a:avLst/>
          </a:prstGeom>
          <a:solidFill>
            <a:srgbClr val="FFFFFF"/>
          </a:solidFill>
          <a:ln w="10160">
            <a:solidFill>
              <a:srgbClr val="00B4D8"/>
            </a:solidFill>
            <a:prstDash val="solid"/>
          </a:ln>
          <a:effectLst>
            <a:outerShdw blurRad="76200" dist="254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243883" y="2256576"/>
            <a:ext cx="50476" cy="12741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298747" y="2270900"/>
            <a:ext cx="267520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Features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5371898" y="2776741"/>
            <a:ext cx="2766273" cy="538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GB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messaging</a:t>
            </a:r>
          </a:p>
          <a:p>
            <a:r>
              <a:rPr lang="en-GB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Typing indicators</a:t>
            </a:r>
          </a:p>
          <a:p>
            <a:r>
              <a:rPr lang="en-GB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user count</a:t>
            </a:r>
          </a:p>
          <a:p>
            <a:r>
              <a:rPr lang="en-GB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/ leave notifications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243883" y="3735977"/>
            <a:ext cx="3635435" cy="1051560"/>
          </a:xfrm>
          <a:prstGeom prst="rect">
            <a:avLst/>
          </a:prstGeom>
          <a:solidFill>
            <a:srgbClr val="FFFFFF"/>
          </a:solidFill>
          <a:ln w="10160">
            <a:solidFill>
              <a:srgbClr val="00B4D8"/>
            </a:solidFill>
            <a:prstDash val="solid"/>
          </a:ln>
          <a:effectLst>
            <a:outerShdw blurRad="76200" dist="254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243883" y="3735977"/>
            <a:ext cx="50476" cy="10515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298747" y="3781685"/>
            <a:ext cx="267520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Database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5371899" y="4101308"/>
            <a:ext cx="4113750" cy="6043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GB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 and user data stored in memory.</a:t>
            </a:r>
          </a:p>
          <a:p>
            <a:r>
              <a:rPr lang="en-GB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database dependency.</a:t>
            </a:r>
          </a:p>
          <a:p>
            <a:r>
              <a:rPr lang="en-GB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and simple architecture.</a:t>
            </a:r>
            <a:endParaRPr lang="en-US" sz="14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95F5528-BA72-E07F-866E-8656D1FE9A61}"/>
              </a:ext>
            </a:extLst>
          </p:cNvPr>
          <p:cNvSpPr txBox="1"/>
          <p:nvPr/>
        </p:nvSpPr>
        <p:spPr>
          <a:xfrm>
            <a:off x="416647" y="3700918"/>
            <a:ext cx="3000314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dirty="0"/>
              <a:t>Node.js – server runtime</a:t>
            </a:r>
          </a:p>
          <a:p>
            <a:r>
              <a:rPr lang="en-IN" sz="1600" dirty="0"/>
              <a:t>Express.js – web framework</a:t>
            </a:r>
          </a:p>
          <a:p>
            <a:r>
              <a:rPr lang="en-IN" sz="1600" dirty="0"/>
              <a:t>Socket.IO – real-time messaging</a:t>
            </a:r>
          </a:p>
          <a:p>
            <a:r>
              <a:rPr lang="en-IN" sz="1600" dirty="0"/>
              <a:t>Render – cloud deployment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Systems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8549640" y="128016"/>
            <a:ext cx="438912" cy="23774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9640" y="128016"/>
            <a:ext cx="4389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8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0C6796D-B684-0691-54D5-A0C445FD8573}"/>
              </a:ext>
            </a:extLst>
          </p:cNvPr>
          <p:cNvSpPr txBox="1"/>
          <p:nvPr/>
        </p:nvSpPr>
        <p:spPr>
          <a:xfrm>
            <a:off x="365760" y="926099"/>
            <a:ext cx="6769825" cy="40626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solidFill>
                  <a:srgbClr val="0070C0"/>
                </a:solidFill>
              </a:rPr>
              <a:t>Slack</a:t>
            </a:r>
            <a:r>
              <a:rPr lang="en-IN" sz="2000" dirty="0">
                <a:solidFill>
                  <a:srgbClr val="0070C0"/>
                </a:solidFill>
              </a:rPr>
              <a:t> </a:t>
            </a:r>
            <a:r>
              <a:rPr lang="en-IN" sz="2000" dirty="0"/>
              <a:t>– enterprise collaboration tool</a:t>
            </a:r>
          </a:p>
          <a:p>
            <a:endParaRPr lang="en-IN" sz="2000" dirty="0"/>
          </a:p>
          <a:p>
            <a:r>
              <a:rPr lang="en-IN" sz="2000" b="1" dirty="0">
                <a:solidFill>
                  <a:srgbClr val="0070C0"/>
                </a:solidFill>
              </a:rPr>
              <a:t>Discord </a:t>
            </a:r>
            <a:r>
              <a:rPr lang="en-IN" sz="2000" dirty="0"/>
              <a:t>– community communication platform</a:t>
            </a:r>
          </a:p>
          <a:p>
            <a:endParaRPr lang="en-IN" sz="2000" dirty="0"/>
          </a:p>
          <a:p>
            <a:r>
              <a:rPr lang="en-IN" sz="2000" b="1" dirty="0">
                <a:solidFill>
                  <a:srgbClr val="0070C0"/>
                </a:solidFill>
              </a:rPr>
              <a:t>Microsoft Teams </a:t>
            </a:r>
            <a:r>
              <a:rPr lang="en-IN" sz="2000" dirty="0"/>
              <a:t>– corporate messaging system</a:t>
            </a:r>
          </a:p>
          <a:p>
            <a:endParaRPr lang="en-IN" sz="2000" dirty="0"/>
          </a:p>
          <a:p>
            <a:r>
              <a:rPr lang="en-IN" sz="2000" b="1" dirty="0" err="1">
                <a:solidFill>
                  <a:srgbClr val="0070C0"/>
                </a:solidFill>
              </a:rPr>
              <a:t>Rocket.Chat</a:t>
            </a:r>
            <a:r>
              <a:rPr lang="en-IN" sz="2000" b="1" dirty="0">
                <a:solidFill>
                  <a:srgbClr val="0070C0"/>
                </a:solidFill>
              </a:rPr>
              <a:t> </a:t>
            </a:r>
            <a:r>
              <a:rPr lang="en-IN" sz="2000" dirty="0"/>
              <a:t>– open-source chat platform</a:t>
            </a:r>
          </a:p>
          <a:p>
            <a:endParaRPr lang="en-IN" sz="2000" dirty="0"/>
          </a:p>
          <a:p>
            <a:r>
              <a:rPr lang="en-IN" sz="2000" b="1" dirty="0" err="1">
                <a:solidFill>
                  <a:srgbClr val="0070C0"/>
                </a:solidFill>
              </a:rPr>
              <a:t>Mattermost</a:t>
            </a:r>
            <a:r>
              <a:rPr lang="en-IN" sz="2000" dirty="0"/>
              <a:t> – self-hosted team messaging</a:t>
            </a:r>
          </a:p>
          <a:p>
            <a:endParaRPr lang="en-IN" sz="2000" dirty="0"/>
          </a:p>
          <a:p>
            <a:r>
              <a:rPr lang="en-IN" sz="2000" b="1" dirty="0">
                <a:solidFill>
                  <a:srgbClr val="0070C0"/>
                </a:solidFill>
              </a:rPr>
              <a:t>Telegram Web </a:t>
            </a:r>
            <a:r>
              <a:rPr lang="en-IN" sz="2000" dirty="0"/>
              <a:t>– browser-based messaging</a:t>
            </a:r>
          </a:p>
          <a:p>
            <a:endParaRPr lang="en-IN" sz="2000" dirty="0"/>
          </a:p>
          <a:p>
            <a:r>
              <a:rPr lang="en-IN" sz="2000" b="1" dirty="0">
                <a:solidFill>
                  <a:srgbClr val="0070C0"/>
                </a:solidFill>
              </a:rPr>
              <a:t>WhatsApp Web </a:t>
            </a:r>
            <a:r>
              <a:rPr lang="en-IN" sz="2000" dirty="0"/>
              <a:t>– real-time messaging platform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Disadvantages of Existing Systems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8549640" y="128016"/>
            <a:ext cx="438912" cy="23774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9640" y="128016"/>
            <a:ext cx="4389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11480" y="1005839"/>
            <a:ext cx="2743200" cy="1886447"/>
          </a:xfrm>
          <a:prstGeom prst="rect">
            <a:avLst/>
          </a:prstGeom>
          <a:solidFill>
            <a:srgbClr val="FFFFFF"/>
          </a:solidFill>
          <a:ln w="15240">
            <a:solidFill>
              <a:srgbClr val="E74C3C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11480" y="1005840"/>
            <a:ext cx="2743200" cy="54864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21208" y="1133856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an account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11480" y="1508760"/>
            <a:ext cx="285292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GB" sz="1600" dirty="0"/>
              <a:t>Most platforms require user registration and authentication before allowing users to communicate.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227832" y="1005840"/>
            <a:ext cx="2743200" cy="1886446"/>
          </a:xfrm>
          <a:prstGeom prst="rect">
            <a:avLst/>
          </a:prstGeom>
          <a:solidFill>
            <a:srgbClr val="FFFFFF"/>
          </a:solidFill>
          <a:ln w="15240">
            <a:solidFill>
              <a:srgbClr val="E67E22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27832" y="1005840"/>
            <a:ext cx="2743200" cy="54864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37560" y="1133856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 infrastructure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227832" y="150876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GB" sz="1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systems rely on complex backend infrastructure including databases, authentication services, and cloud configurations.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044184" y="1005840"/>
            <a:ext cx="2743200" cy="1886446"/>
          </a:xfrm>
          <a:prstGeom prst="rect">
            <a:avLst/>
          </a:prstGeom>
          <a:solidFill>
            <a:srgbClr val="FFFFFF"/>
          </a:solidFill>
          <a:ln w="15240">
            <a:solidFill>
              <a:srgbClr val="8E44AD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44184" y="1005840"/>
            <a:ext cx="2743200" cy="54864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53912" y="1133856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8E4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setup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044184" y="1508760"/>
            <a:ext cx="285292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GB" sz="1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Deploying platforms like </a:t>
            </a:r>
            <a:r>
              <a:rPr lang="en-GB" sz="1600" dirty="0" err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Rocket.Chat</a:t>
            </a:r>
            <a:r>
              <a:rPr lang="en-GB" sz="1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or </a:t>
            </a:r>
            <a:r>
              <a:rPr lang="en-GB" sz="1600" dirty="0" err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Mattermost</a:t>
            </a:r>
            <a:r>
              <a:rPr lang="en-GB" sz="1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requires advanced server setup and DevOps knowledge.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11480" y="3096627"/>
            <a:ext cx="2743200" cy="1614520"/>
          </a:xfrm>
          <a:prstGeom prst="rect">
            <a:avLst/>
          </a:prstGeom>
          <a:solidFill>
            <a:srgbClr val="FFFFFF"/>
          </a:solidFill>
          <a:ln w="15240">
            <a:solidFill>
              <a:srgbClr val="2980B9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11480" y="3096627"/>
            <a:ext cx="2743200" cy="54864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21208" y="3224643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980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for learning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411480" y="3599547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GB" sz="1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existing chat platforms have large and complex codebases that are difficult for beginners to understand.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3227832" y="3096627"/>
            <a:ext cx="2743200" cy="1614520"/>
          </a:xfrm>
          <a:prstGeom prst="rect">
            <a:avLst/>
          </a:prstGeom>
          <a:solidFill>
            <a:srgbClr val="FFFFFF"/>
          </a:solidFill>
          <a:ln w="15240">
            <a:solidFill>
              <a:srgbClr val="16A085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227832" y="3096627"/>
            <a:ext cx="2743200" cy="54864"/>
          </a:xfrm>
          <a:prstGeom prst="rect">
            <a:avLst/>
          </a:prstGeom>
          <a:solidFill>
            <a:srgbClr val="16A085"/>
          </a:solidFill>
          <a:ln w="12700">
            <a:solidFill>
              <a:srgbClr val="16A08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37560" y="3224643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6A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auto room cleanup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3227832" y="3599547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GB" sz="1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rooms often remain active even when no users are present, which wastes server resources.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044184" y="3096626"/>
            <a:ext cx="2743200" cy="1614521"/>
          </a:xfrm>
          <a:prstGeom prst="rect">
            <a:avLst/>
          </a:prstGeom>
          <a:solidFill>
            <a:srgbClr val="FFFFFF"/>
          </a:solidFill>
          <a:ln w="15240">
            <a:solidFill>
              <a:srgbClr val="C0392B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044184" y="3096627"/>
            <a:ext cx="2743200" cy="5486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153912" y="3224643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anonymous access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6044184" y="3599547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GB" sz="1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Anonymous access is usually not supported, making quick link-based communication difficult.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System — Open Chat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8549640" y="128016"/>
            <a:ext cx="438912" cy="23774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9640" y="128016"/>
            <a:ext cx="4389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65759" y="881750"/>
            <a:ext cx="4153989" cy="741208"/>
          </a:xfrm>
          <a:prstGeom prst="rect">
            <a:avLst/>
          </a:prstGeom>
          <a:solidFill>
            <a:srgbClr val="FFFFFF"/>
          </a:solidFill>
          <a:ln w="10160">
            <a:solidFill>
              <a:srgbClr val="00B4D8"/>
            </a:solidFill>
            <a:prstDash val="solid"/>
          </a:ln>
          <a:effectLst>
            <a:outerShdw blurRad="76200" dist="254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881750"/>
            <a:ext cx="54864" cy="7412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954902"/>
            <a:ext cx="3457239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/ Join Rooms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02920" y="1260041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GB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can create or join chat rooms.</a:t>
            </a:r>
          </a:p>
          <a:p>
            <a:r>
              <a:rPr lang="en-GB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Rooms may be public or password protected.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1773089"/>
            <a:ext cx="4153988" cy="621792"/>
          </a:xfrm>
          <a:prstGeom prst="rect">
            <a:avLst/>
          </a:prstGeom>
          <a:solidFill>
            <a:srgbClr val="FFFFFF"/>
          </a:solidFill>
          <a:ln w="10160">
            <a:solidFill>
              <a:srgbClr val="00B4D8"/>
            </a:solidFill>
            <a:prstDash val="solid"/>
          </a:ln>
          <a:effectLst>
            <a:outerShdw blurRad="76200" dist="254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1773089"/>
            <a:ext cx="54864" cy="6217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1846241"/>
            <a:ext cx="3336215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messaging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08948" y="2129213"/>
            <a:ext cx="420084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Messages appear instantly via WebSocket — no refresh, no delay.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2495465"/>
            <a:ext cx="4153988" cy="621792"/>
          </a:xfrm>
          <a:prstGeom prst="rect">
            <a:avLst/>
          </a:prstGeom>
          <a:solidFill>
            <a:srgbClr val="FFFFFF"/>
          </a:solidFill>
          <a:ln w="10160">
            <a:solidFill>
              <a:srgbClr val="00B4D8"/>
            </a:solidFill>
            <a:prstDash val="solid"/>
          </a:ln>
          <a:effectLst>
            <a:outerShdw blurRad="76200" dist="254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495465"/>
            <a:ext cx="54864" cy="6217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2568617"/>
            <a:ext cx="3095225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Typing indicators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02920" y="2824649"/>
            <a:ext cx="3457239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when someone's typing with a live indicator.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3217841"/>
            <a:ext cx="4153988" cy="621792"/>
          </a:xfrm>
          <a:prstGeom prst="rect">
            <a:avLst/>
          </a:prstGeom>
          <a:solidFill>
            <a:srgbClr val="FFFFFF"/>
          </a:solidFill>
          <a:ln w="10160">
            <a:solidFill>
              <a:srgbClr val="00B4D8"/>
            </a:solidFill>
            <a:prstDash val="solid"/>
          </a:ln>
          <a:effectLst>
            <a:outerShdw blurRad="76200" dist="254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217841"/>
            <a:ext cx="54864" cy="6217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3290993"/>
            <a:ext cx="28163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room cleanup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02920" y="3547025"/>
            <a:ext cx="389665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 disappears the moment the owner disconnects.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65760" y="3940217"/>
            <a:ext cx="4153988" cy="621792"/>
          </a:xfrm>
          <a:prstGeom prst="rect">
            <a:avLst/>
          </a:prstGeom>
          <a:solidFill>
            <a:srgbClr val="FFFFFF"/>
          </a:solidFill>
          <a:ln w="10160">
            <a:solidFill>
              <a:srgbClr val="00B4D8"/>
            </a:solidFill>
            <a:prstDash val="solid"/>
          </a:ln>
          <a:effectLst>
            <a:outerShdw blurRad="76200" dist="254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65760" y="3940217"/>
            <a:ext cx="54864" cy="6217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4013369"/>
            <a:ext cx="2985497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Password-protected rooms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02920" y="4269401"/>
            <a:ext cx="3403451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password for private conversations.</a:t>
            </a:r>
            <a:endParaRPr lang="en-US" sz="1100" dirty="0"/>
          </a:p>
        </p:txBody>
      </p:sp>
      <p:sp>
        <p:nvSpPr>
          <p:cNvPr id="41" name="Text 26">
            <a:extLst>
              <a:ext uri="{FF2B5EF4-FFF2-40B4-BE49-F238E27FC236}">
                <a16:creationId xmlns:a16="http://schemas.microsoft.com/office/drawing/2014/main" id="{A4F718ED-2A4C-6773-9F3B-906BE6D6470F}"/>
              </a:ext>
            </a:extLst>
          </p:cNvPr>
          <p:cNvSpPr/>
          <p:nvPr/>
        </p:nvSpPr>
        <p:spPr>
          <a:xfrm>
            <a:off x="5457231" y="852957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Flow</a:t>
            </a:r>
            <a:endParaRPr lang="en-US" dirty="0"/>
          </a:p>
        </p:txBody>
      </p:sp>
      <p:sp>
        <p:nvSpPr>
          <p:cNvPr id="42" name="Shape 27">
            <a:extLst>
              <a:ext uri="{FF2B5EF4-FFF2-40B4-BE49-F238E27FC236}">
                <a16:creationId xmlns:a16="http://schemas.microsoft.com/office/drawing/2014/main" id="{D8A529BB-112E-38E0-D563-A53D738EFF6A}"/>
              </a:ext>
            </a:extLst>
          </p:cNvPr>
          <p:cNvSpPr/>
          <p:nvPr/>
        </p:nvSpPr>
        <p:spPr>
          <a:xfrm>
            <a:off x="5457231" y="1275486"/>
            <a:ext cx="2926080" cy="347472"/>
          </a:xfrm>
          <a:prstGeom prst="rect">
            <a:avLst/>
          </a:prstGeom>
          <a:solidFill>
            <a:srgbClr val="0D1B2A"/>
          </a:solidFill>
          <a:ln w="1016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 sz="3200"/>
          </a:p>
        </p:txBody>
      </p:sp>
      <p:sp>
        <p:nvSpPr>
          <p:cNvPr id="43" name="Text 28">
            <a:extLst>
              <a:ext uri="{FF2B5EF4-FFF2-40B4-BE49-F238E27FC236}">
                <a16:creationId xmlns:a16="http://schemas.microsoft.com/office/drawing/2014/main" id="{D98B139D-6758-864F-59EE-4FF7396F2D24}"/>
              </a:ext>
            </a:extLst>
          </p:cNvPr>
          <p:cNvSpPr/>
          <p:nvPr/>
        </p:nvSpPr>
        <p:spPr>
          <a:xfrm>
            <a:off x="5457231" y="1275486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</a:t>
            </a:r>
            <a:endParaRPr lang="en-US" sz="1200" dirty="0"/>
          </a:p>
        </p:txBody>
      </p:sp>
      <p:sp>
        <p:nvSpPr>
          <p:cNvPr id="56" name="Text 29">
            <a:extLst>
              <a:ext uri="{FF2B5EF4-FFF2-40B4-BE49-F238E27FC236}">
                <a16:creationId xmlns:a16="http://schemas.microsoft.com/office/drawing/2014/main" id="{FFF4096C-38C1-5380-AEBF-06456180F370}"/>
              </a:ext>
            </a:extLst>
          </p:cNvPr>
          <p:cNvSpPr/>
          <p:nvPr/>
        </p:nvSpPr>
        <p:spPr>
          <a:xfrm>
            <a:off x="5457231" y="1622958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57" name="Shape 30">
            <a:extLst>
              <a:ext uri="{FF2B5EF4-FFF2-40B4-BE49-F238E27FC236}">
                <a16:creationId xmlns:a16="http://schemas.microsoft.com/office/drawing/2014/main" id="{95FF76F5-CFBE-1B98-A520-1D02F613B9B1}"/>
              </a:ext>
            </a:extLst>
          </p:cNvPr>
          <p:cNvSpPr/>
          <p:nvPr/>
        </p:nvSpPr>
        <p:spPr>
          <a:xfrm>
            <a:off x="5457231" y="1824126"/>
            <a:ext cx="2926080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 sz="3200"/>
          </a:p>
        </p:txBody>
      </p:sp>
      <p:sp>
        <p:nvSpPr>
          <p:cNvPr id="58" name="Text 31">
            <a:extLst>
              <a:ext uri="{FF2B5EF4-FFF2-40B4-BE49-F238E27FC236}">
                <a16:creationId xmlns:a16="http://schemas.microsoft.com/office/drawing/2014/main" id="{AA99DB52-361E-E212-BF1B-F8782FAE5C22}"/>
              </a:ext>
            </a:extLst>
          </p:cNvPr>
          <p:cNvSpPr/>
          <p:nvPr/>
        </p:nvSpPr>
        <p:spPr>
          <a:xfrm>
            <a:off x="5457231" y="1824126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Socket.IO Client</a:t>
            </a:r>
            <a:endParaRPr lang="en-US" sz="1200" dirty="0"/>
          </a:p>
        </p:txBody>
      </p:sp>
      <p:sp>
        <p:nvSpPr>
          <p:cNvPr id="59" name="Text 32">
            <a:extLst>
              <a:ext uri="{FF2B5EF4-FFF2-40B4-BE49-F238E27FC236}">
                <a16:creationId xmlns:a16="http://schemas.microsoft.com/office/drawing/2014/main" id="{AB60D97B-D2A1-565C-591B-3815CD02EE1A}"/>
              </a:ext>
            </a:extLst>
          </p:cNvPr>
          <p:cNvSpPr/>
          <p:nvPr/>
        </p:nvSpPr>
        <p:spPr>
          <a:xfrm>
            <a:off x="5457231" y="2171598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60" name="Shape 33">
            <a:extLst>
              <a:ext uri="{FF2B5EF4-FFF2-40B4-BE49-F238E27FC236}">
                <a16:creationId xmlns:a16="http://schemas.microsoft.com/office/drawing/2014/main" id="{D8D8C9AF-E277-8588-2F7C-6D634CEA3179}"/>
              </a:ext>
            </a:extLst>
          </p:cNvPr>
          <p:cNvSpPr/>
          <p:nvPr/>
        </p:nvSpPr>
        <p:spPr>
          <a:xfrm>
            <a:off x="5457231" y="2372766"/>
            <a:ext cx="2926080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 sz="3200"/>
          </a:p>
        </p:txBody>
      </p:sp>
      <p:sp>
        <p:nvSpPr>
          <p:cNvPr id="61" name="Text 34">
            <a:extLst>
              <a:ext uri="{FF2B5EF4-FFF2-40B4-BE49-F238E27FC236}">
                <a16:creationId xmlns:a16="http://schemas.microsoft.com/office/drawing/2014/main" id="{D0AE9962-14F8-9931-3A6B-E8392FB2FC02}"/>
              </a:ext>
            </a:extLst>
          </p:cNvPr>
          <p:cNvSpPr/>
          <p:nvPr/>
        </p:nvSpPr>
        <p:spPr>
          <a:xfrm>
            <a:off x="5457231" y="2372766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Server</a:t>
            </a:r>
            <a:endParaRPr lang="en-US" sz="1200" dirty="0"/>
          </a:p>
        </p:txBody>
      </p:sp>
      <p:sp>
        <p:nvSpPr>
          <p:cNvPr id="62" name="Text 35">
            <a:extLst>
              <a:ext uri="{FF2B5EF4-FFF2-40B4-BE49-F238E27FC236}">
                <a16:creationId xmlns:a16="http://schemas.microsoft.com/office/drawing/2014/main" id="{0D7DC2BB-39A0-4578-ECF1-05F8596CFCEB}"/>
              </a:ext>
            </a:extLst>
          </p:cNvPr>
          <p:cNvSpPr/>
          <p:nvPr/>
        </p:nvSpPr>
        <p:spPr>
          <a:xfrm>
            <a:off x="5457231" y="2720238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63" name="Shape 36">
            <a:extLst>
              <a:ext uri="{FF2B5EF4-FFF2-40B4-BE49-F238E27FC236}">
                <a16:creationId xmlns:a16="http://schemas.microsoft.com/office/drawing/2014/main" id="{8A2DAD50-8DA2-1D18-2050-67796F37093F}"/>
              </a:ext>
            </a:extLst>
          </p:cNvPr>
          <p:cNvSpPr/>
          <p:nvPr/>
        </p:nvSpPr>
        <p:spPr>
          <a:xfrm>
            <a:off x="5457231" y="2921406"/>
            <a:ext cx="2926080" cy="347472"/>
          </a:xfrm>
          <a:prstGeom prst="rect">
            <a:avLst/>
          </a:prstGeom>
          <a:solidFill>
            <a:srgbClr val="0D1B2A"/>
          </a:solidFill>
          <a:ln w="1016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 sz="3200"/>
          </a:p>
        </p:txBody>
      </p:sp>
      <p:sp>
        <p:nvSpPr>
          <p:cNvPr id="64" name="Text 37">
            <a:extLst>
              <a:ext uri="{FF2B5EF4-FFF2-40B4-BE49-F238E27FC236}">
                <a16:creationId xmlns:a16="http://schemas.microsoft.com/office/drawing/2014/main" id="{B90A0C64-C6D4-B58E-C363-BEFB6562A887}"/>
              </a:ext>
            </a:extLst>
          </p:cNvPr>
          <p:cNvSpPr/>
          <p:nvPr/>
        </p:nvSpPr>
        <p:spPr>
          <a:xfrm>
            <a:off x="5457231" y="2921406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 Manager</a:t>
            </a:r>
            <a:endParaRPr lang="en-US" sz="1200" dirty="0"/>
          </a:p>
        </p:txBody>
      </p:sp>
      <p:sp>
        <p:nvSpPr>
          <p:cNvPr id="65" name="Text 38">
            <a:extLst>
              <a:ext uri="{FF2B5EF4-FFF2-40B4-BE49-F238E27FC236}">
                <a16:creationId xmlns:a16="http://schemas.microsoft.com/office/drawing/2014/main" id="{9E71864F-389E-EE43-D506-91C1E46A1269}"/>
              </a:ext>
            </a:extLst>
          </p:cNvPr>
          <p:cNvSpPr/>
          <p:nvPr/>
        </p:nvSpPr>
        <p:spPr>
          <a:xfrm>
            <a:off x="5457231" y="3588374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dirty="0"/>
          </a:p>
        </p:txBody>
      </p:sp>
      <p:sp>
        <p:nvSpPr>
          <p:cNvPr id="66" name="Text 39">
            <a:extLst>
              <a:ext uri="{FF2B5EF4-FFF2-40B4-BE49-F238E27FC236}">
                <a16:creationId xmlns:a16="http://schemas.microsoft.com/office/drawing/2014/main" id="{C8264E71-509D-9114-3E1C-AB9C49551698}"/>
              </a:ext>
            </a:extLst>
          </p:cNvPr>
          <p:cNvSpPr/>
          <p:nvPr/>
        </p:nvSpPr>
        <p:spPr>
          <a:xfrm>
            <a:off x="5457231" y="3954134"/>
            <a:ext cx="2926080" cy="566928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· Express · Socket.IO · Render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 of Proposed System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8549640" y="128016"/>
            <a:ext cx="438912" cy="23774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9640" y="128016"/>
            <a:ext cx="4389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8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C7908FA-8E4E-8293-4723-38305FBF521F}"/>
              </a:ext>
            </a:extLst>
          </p:cNvPr>
          <p:cNvSpPr txBox="1"/>
          <p:nvPr/>
        </p:nvSpPr>
        <p:spPr>
          <a:xfrm>
            <a:off x="365760" y="786384"/>
            <a:ext cx="6008914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No user registration required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Real-time WebSocket communication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Lightweight architecture (no database)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Automatic room lifecycle management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Password-protected private rooms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GB" dirty="0"/>
              <a:t>Accessible from any device with a web browser</a:t>
            </a:r>
          </a:p>
          <a:p>
            <a:endParaRPr lang="en-IN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GB" dirty="0"/>
              <a:t>Cloud deployment on Render via GitHub</a:t>
            </a:r>
          </a:p>
          <a:p>
            <a:endParaRPr lang="en-IN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Simple and maintainable codebase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8549640" y="128016"/>
            <a:ext cx="438912" cy="23774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9640" y="128016"/>
            <a:ext cx="4389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74320" y="914400"/>
            <a:ext cx="402336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B4D8"/>
            </a:solidFill>
            <a:prstDash val="solid"/>
          </a:ln>
          <a:effectLst>
            <a:outerShdw blurRad="76200" dist="254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914400"/>
            <a:ext cx="4023360" cy="38404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" y="969264"/>
            <a:ext cx="38770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11480" y="1417320"/>
            <a:ext cx="3749040" cy="2514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System</a:t>
            </a:r>
          </a:p>
          <a:p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Processor: Intel i3 or equivalent</a:t>
            </a:r>
          </a:p>
          <a:p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RAM: Minimum 4 GB</a:t>
            </a:r>
          </a:p>
          <a:p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Storage: 500 MB free space</a:t>
            </a:r>
          </a:p>
          <a:p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Network: Stable internet connection</a:t>
            </a:r>
          </a:p>
          <a:p>
            <a:endParaRPr lang="en-US" sz="1600" dirty="0">
              <a:solidFill>
                <a:srgbClr val="333333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sz="16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Devices</a:t>
            </a:r>
          </a:p>
          <a:p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Laptop / Desktop / Tablet / Smartphone</a:t>
            </a:r>
          </a:p>
          <a:p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Any modern web browser with WebSocket support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846320" y="914400"/>
            <a:ext cx="402336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B4D8"/>
            </a:solidFill>
            <a:prstDash val="solid"/>
          </a:ln>
          <a:effectLst>
            <a:outerShdw blurRad="76200" dist="254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46320" y="914400"/>
            <a:ext cx="4023360" cy="38404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19472" y="969264"/>
            <a:ext cx="38770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892040" y="1417320"/>
            <a:ext cx="3931920" cy="402336"/>
          </a:xfrm>
          <a:prstGeom prst="rect">
            <a:avLst/>
          </a:prstGeom>
          <a:solidFill>
            <a:srgbClr val="F0F4F8"/>
          </a:solidFill>
          <a:ln w="6350">
            <a:solidFill>
              <a:srgbClr val="90E0E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83480" y="1490472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309360" y="1490472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v18+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892040" y="1874520"/>
            <a:ext cx="3931920" cy="402336"/>
          </a:xfrm>
          <a:prstGeom prst="rect">
            <a:avLst/>
          </a:prstGeom>
          <a:solidFill>
            <a:srgbClr val="F0F4F8"/>
          </a:solidFill>
          <a:ln w="6350">
            <a:solidFill>
              <a:srgbClr val="90E0E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83480" y="1947672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309360" y="1947672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Express.js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892040" y="2331720"/>
            <a:ext cx="3931920" cy="402336"/>
          </a:xfrm>
          <a:prstGeom prst="rect">
            <a:avLst/>
          </a:prstGeom>
          <a:solidFill>
            <a:srgbClr val="F0F4F8"/>
          </a:solidFill>
          <a:ln w="6350">
            <a:solidFill>
              <a:srgbClr val="90E0E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83480" y="2404872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309360" y="2404872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Socket.IO v4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892040" y="2788920"/>
            <a:ext cx="3931920" cy="402336"/>
          </a:xfrm>
          <a:prstGeom prst="rect">
            <a:avLst/>
          </a:prstGeom>
          <a:solidFill>
            <a:srgbClr val="F0F4F8"/>
          </a:solidFill>
          <a:ln w="6350">
            <a:solidFill>
              <a:srgbClr val="90E0E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83480" y="2862072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309360" y="2862072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Chrome / Firefox / Edge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892040" y="3246120"/>
            <a:ext cx="3931920" cy="402336"/>
          </a:xfrm>
          <a:prstGeom prst="rect">
            <a:avLst/>
          </a:prstGeom>
          <a:solidFill>
            <a:srgbClr val="F0F4F8"/>
          </a:solidFill>
          <a:ln w="6350">
            <a:solidFill>
              <a:srgbClr val="90E0E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83480" y="3319272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Hosting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309360" y="3319272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1400" dirty="0"/>
              <a:t>Render Cloud Platform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4892040" y="3703320"/>
            <a:ext cx="3931920" cy="402336"/>
          </a:xfrm>
          <a:prstGeom prst="rect">
            <a:avLst/>
          </a:prstGeom>
          <a:solidFill>
            <a:srgbClr val="F0F4F8"/>
          </a:solidFill>
          <a:ln w="6350">
            <a:solidFill>
              <a:srgbClr val="90E0E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83480" y="3776472"/>
            <a:ext cx="1325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309360" y="3776472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Novelty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8549640" y="128016"/>
            <a:ext cx="438912" cy="23774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9640" y="128016"/>
            <a:ext cx="4389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1170432"/>
            <a:ext cx="8595360" cy="868680"/>
          </a:xfrm>
          <a:prstGeom prst="rect">
            <a:avLst/>
          </a:prstGeom>
          <a:solidFill>
            <a:srgbClr val="FFFFFF"/>
          </a:solidFill>
          <a:ln w="10160">
            <a:solidFill>
              <a:srgbClr val="00B4D8"/>
            </a:solidFill>
            <a:prstDash val="solid"/>
          </a:ln>
          <a:effectLst>
            <a:outerShdw blurRad="76200" dist="254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170432"/>
            <a:ext cx="502920" cy="8686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1170432"/>
            <a:ext cx="502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850392" y="1244180"/>
            <a:ext cx="7863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2000" b="1" dirty="0"/>
              <a:t>Database-free architecture</a:t>
            </a:r>
            <a:endParaRPr lang="en-US" sz="2000" b="1" dirty="0"/>
          </a:p>
        </p:txBody>
      </p:sp>
      <p:sp>
        <p:nvSpPr>
          <p:cNvPr id="12" name="Text 10"/>
          <p:cNvSpPr/>
          <p:nvPr/>
        </p:nvSpPr>
        <p:spPr>
          <a:xfrm>
            <a:off x="850392" y="1612525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GB" sz="1600" dirty="0"/>
              <a:t>Room and user state are maintained in server memory using in-memory data structures instead of a database.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274320" y="2148840"/>
            <a:ext cx="8595360" cy="868680"/>
          </a:xfrm>
          <a:prstGeom prst="rect">
            <a:avLst/>
          </a:prstGeom>
          <a:solidFill>
            <a:srgbClr val="FFFFFF"/>
          </a:solidFill>
          <a:ln w="10160">
            <a:solidFill>
              <a:srgbClr val="00B4D8"/>
            </a:solidFill>
            <a:prstDash val="solid"/>
          </a:ln>
          <a:effectLst>
            <a:outerShdw blurRad="76200" dist="254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2148840"/>
            <a:ext cx="502920" cy="8686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2148840"/>
            <a:ext cx="502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850392" y="2240280"/>
            <a:ext cx="7863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2000" b="1" dirty="0"/>
              <a:t>Automatic room lifecycle</a:t>
            </a:r>
            <a:endParaRPr lang="en-US" sz="2000" b="1" dirty="0"/>
          </a:p>
        </p:txBody>
      </p:sp>
      <p:sp>
        <p:nvSpPr>
          <p:cNvPr id="17" name="Text 15"/>
          <p:cNvSpPr/>
          <p:nvPr/>
        </p:nvSpPr>
        <p:spPr>
          <a:xfrm>
            <a:off x="850392" y="254203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GB" sz="1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rooms are automatically deleted when the last connected user leaves the room.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274320" y="3127248"/>
            <a:ext cx="8595360" cy="868680"/>
          </a:xfrm>
          <a:prstGeom prst="rect">
            <a:avLst/>
          </a:prstGeom>
          <a:solidFill>
            <a:srgbClr val="FFFFFF"/>
          </a:solidFill>
          <a:ln w="10160">
            <a:solidFill>
              <a:srgbClr val="00B4D8"/>
            </a:solidFill>
            <a:prstDash val="solid"/>
          </a:ln>
          <a:effectLst>
            <a:outerShdw blurRad="76200" dist="254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320" y="3127248"/>
            <a:ext cx="502920" cy="8686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3127248"/>
            <a:ext cx="502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850392" y="3218688"/>
            <a:ext cx="7863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2000" b="1" dirty="0"/>
              <a:t>Real-time event architecture</a:t>
            </a:r>
            <a:endParaRPr lang="en-US" sz="2000" b="1" dirty="0"/>
          </a:p>
        </p:txBody>
      </p:sp>
      <p:sp>
        <p:nvSpPr>
          <p:cNvPr id="22" name="Text 20"/>
          <p:cNvSpPr/>
          <p:nvPr/>
        </p:nvSpPr>
        <p:spPr>
          <a:xfrm>
            <a:off x="850392" y="352044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GB" sz="1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Messages are delivered instantly through WebSocket-based event-driven communication.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274320" y="4105656"/>
            <a:ext cx="8595360" cy="868680"/>
          </a:xfrm>
          <a:prstGeom prst="rect">
            <a:avLst/>
          </a:prstGeom>
          <a:solidFill>
            <a:srgbClr val="FFFFFF"/>
          </a:solidFill>
          <a:ln w="10160">
            <a:solidFill>
              <a:srgbClr val="00B4D8"/>
            </a:solidFill>
            <a:prstDash val="solid"/>
          </a:ln>
          <a:effectLst>
            <a:outerShdw blurRad="76200" dist="254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74320" y="4105656"/>
            <a:ext cx="502920" cy="8686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" y="4105656"/>
            <a:ext cx="502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850392" y="4197096"/>
            <a:ext cx="7863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2000" b="1" dirty="0"/>
              <a:t>Cloud Deployment</a:t>
            </a:r>
            <a:endParaRPr lang="en-US" sz="2000" b="1" dirty="0"/>
          </a:p>
        </p:txBody>
      </p:sp>
      <p:sp>
        <p:nvSpPr>
          <p:cNvPr id="27" name="Text 25"/>
          <p:cNvSpPr/>
          <p:nvPr/>
        </p:nvSpPr>
        <p:spPr>
          <a:xfrm>
            <a:off x="850392" y="4498848"/>
            <a:ext cx="8138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GB" sz="1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application is deployed on Render and automatically updated through GitHub integration.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8549640" y="128016"/>
            <a:ext cx="438912" cy="23774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9640" y="128016"/>
            <a:ext cx="4389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800" dirty="0"/>
          </a:p>
        </p:txBody>
      </p:sp>
      <p:sp>
        <p:nvSpPr>
          <p:cNvPr id="49" name="Shape 5">
            <a:extLst>
              <a:ext uri="{FF2B5EF4-FFF2-40B4-BE49-F238E27FC236}">
                <a16:creationId xmlns:a16="http://schemas.microsoft.com/office/drawing/2014/main" id="{771B7415-FB10-F999-EAA5-E34FAF47623A}"/>
              </a:ext>
            </a:extLst>
          </p:cNvPr>
          <p:cNvSpPr/>
          <p:nvPr/>
        </p:nvSpPr>
        <p:spPr>
          <a:xfrm>
            <a:off x="160020" y="1149654"/>
            <a:ext cx="2697480" cy="2624328"/>
          </a:xfrm>
          <a:prstGeom prst="rect">
            <a:avLst/>
          </a:prstGeom>
          <a:solidFill>
            <a:srgbClr val="FFFFFF"/>
          </a:solidFill>
          <a:ln w="1651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 sz="4000"/>
          </a:p>
        </p:txBody>
      </p:sp>
      <p:sp>
        <p:nvSpPr>
          <p:cNvPr id="50" name="Shape 6">
            <a:extLst>
              <a:ext uri="{FF2B5EF4-FFF2-40B4-BE49-F238E27FC236}">
                <a16:creationId xmlns:a16="http://schemas.microsoft.com/office/drawing/2014/main" id="{61D425F2-3023-1E80-843F-1B5BCE6D8E82}"/>
              </a:ext>
            </a:extLst>
          </p:cNvPr>
          <p:cNvSpPr/>
          <p:nvPr/>
        </p:nvSpPr>
        <p:spPr>
          <a:xfrm>
            <a:off x="160020" y="1149654"/>
            <a:ext cx="2697480" cy="3474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N" sz="4000"/>
          </a:p>
        </p:txBody>
      </p:sp>
      <p:sp>
        <p:nvSpPr>
          <p:cNvPr id="51" name="Text 7">
            <a:extLst>
              <a:ext uri="{FF2B5EF4-FFF2-40B4-BE49-F238E27FC236}">
                <a16:creationId xmlns:a16="http://schemas.microsoft.com/office/drawing/2014/main" id="{81CE669E-997F-1FF3-9D64-0B340EBA8EE5}"/>
              </a:ext>
            </a:extLst>
          </p:cNvPr>
          <p:cNvSpPr/>
          <p:nvPr/>
        </p:nvSpPr>
        <p:spPr>
          <a:xfrm>
            <a:off x="233172" y="1195374"/>
            <a:ext cx="2551176" cy="256032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dirty="0"/>
          </a:p>
        </p:txBody>
      </p:sp>
      <p:sp>
        <p:nvSpPr>
          <p:cNvPr id="52" name="Text 8">
            <a:extLst>
              <a:ext uri="{FF2B5EF4-FFF2-40B4-BE49-F238E27FC236}">
                <a16:creationId xmlns:a16="http://schemas.microsoft.com/office/drawing/2014/main" id="{9B30A972-FCCD-37BA-8AE1-0535BD1458A8}"/>
              </a:ext>
            </a:extLst>
          </p:cNvPr>
          <p:cNvSpPr/>
          <p:nvPr/>
        </p:nvSpPr>
        <p:spPr>
          <a:xfrm>
            <a:off x="324612" y="1606854"/>
            <a:ext cx="2377440" cy="589694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Browser (HTML / CSS / JS)</a:t>
            </a:r>
            <a:endParaRPr lang="en-US" dirty="0"/>
          </a:p>
        </p:txBody>
      </p:sp>
      <p:sp>
        <p:nvSpPr>
          <p:cNvPr id="53" name="Text 9">
            <a:extLst>
              <a:ext uri="{FF2B5EF4-FFF2-40B4-BE49-F238E27FC236}">
                <a16:creationId xmlns:a16="http://schemas.microsoft.com/office/drawing/2014/main" id="{4684FCEA-5379-4BA5-CE77-AE0C27FC54E1}"/>
              </a:ext>
            </a:extLst>
          </p:cNvPr>
          <p:cNvSpPr/>
          <p:nvPr/>
        </p:nvSpPr>
        <p:spPr>
          <a:xfrm>
            <a:off x="324612" y="2082341"/>
            <a:ext cx="2377440" cy="700615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Socket.IO Client Library</a:t>
            </a:r>
            <a:endParaRPr lang="en-US" dirty="0"/>
          </a:p>
        </p:txBody>
      </p:sp>
      <p:sp>
        <p:nvSpPr>
          <p:cNvPr id="54" name="Text 10">
            <a:extLst>
              <a:ext uri="{FF2B5EF4-FFF2-40B4-BE49-F238E27FC236}">
                <a16:creationId xmlns:a16="http://schemas.microsoft.com/office/drawing/2014/main" id="{10A6C0A3-06F4-435A-453B-D5C1390DD922}"/>
              </a:ext>
            </a:extLst>
          </p:cNvPr>
          <p:cNvSpPr/>
          <p:nvPr/>
        </p:nvSpPr>
        <p:spPr>
          <a:xfrm>
            <a:off x="324612" y="2557829"/>
            <a:ext cx="2377440" cy="1040135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Responsive browser interface</a:t>
            </a:r>
            <a:endParaRPr lang="en-US" dirty="0"/>
          </a:p>
        </p:txBody>
      </p:sp>
      <p:sp>
        <p:nvSpPr>
          <p:cNvPr id="55" name="Shape 11">
            <a:extLst>
              <a:ext uri="{FF2B5EF4-FFF2-40B4-BE49-F238E27FC236}">
                <a16:creationId xmlns:a16="http://schemas.microsoft.com/office/drawing/2014/main" id="{4B0DB14A-CAC2-6B62-52FE-A0F560C8E0C0}"/>
              </a:ext>
            </a:extLst>
          </p:cNvPr>
          <p:cNvSpPr/>
          <p:nvPr/>
        </p:nvSpPr>
        <p:spPr>
          <a:xfrm>
            <a:off x="3223260" y="1149654"/>
            <a:ext cx="2697480" cy="2624328"/>
          </a:xfrm>
          <a:prstGeom prst="rect">
            <a:avLst/>
          </a:prstGeom>
          <a:solidFill>
            <a:srgbClr val="FFFFFF"/>
          </a:solidFill>
          <a:ln w="1651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IN" sz="4000"/>
          </a:p>
        </p:txBody>
      </p:sp>
      <p:sp>
        <p:nvSpPr>
          <p:cNvPr id="56" name="Shape 12">
            <a:extLst>
              <a:ext uri="{FF2B5EF4-FFF2-40B4-BE49-F238E27FC236}">
                <a16:creationId xmlns:a16="http://schemas.microsoft.com/office/drawing/2014/main" id="{5C15188D-9DC0-3725-22D3-8CE40D06122D}"/>
              </a:ext>
            </a:extLst>
          </p:cNvPr>
          <p:cNvSpPr/>
          <p:nvPr/>
        </p:nvSpPr>
        <p:spPr>
          <a:xfrm>
            <a:off x="3223260" y="1149654"/>
            <a:ext cx="2697480" cy="3474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N" sz="4000"/>
          </a:p>
        </p:txBody>
      </p:sp>
      <p:sp>
        <p:nvSpPr>
          <p:cNvPr id="57" name="Text 13">
            <a:extLst>
              <a:ext uri="{FF2B5EF4-FFF2-40B4-BE49-F238E27FC236}">
                <a16:creationId xmlns:a16="http://schemas.microsoft.com/office/drawing/2014/main" id="{62A806DA-2F9C-6AF5-5439-5ACEADCC14C5}"/>
              </a:ext>
            </a:extLst>
          </p:cNvPr>
          <p:cNvSpPr/>
          <p:nvPr/>
        </p:nvSpPr>
        <p:spPr>
          <a:xfrm>
            <a:off x="3296412" y="1195374"/>
            <a:ext cx="2551176" cy="256032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</a:t>
            </a:r>
            <a:endParaRPr lang="en-US" dirty="0"/>
          </a:p>
        </p:txBody>
      </p:sp>
      <p:sp>
        <p:nvSpPr>
          <p:cNvPr id="58" name="Text 14">
            <a:extLst>
              <a:ext uri="{FF2B5EF4-FFF2-40B4-BE49-F238E27FC236}">
                <a16:creationId xmlns:a16="http://schemas.microsoft.com/office/drawing/2014/main" id="{94B7F0CA-B0D5-B992-54D3-9791BC0FC7D7}"/>
              </a:ext>
            </a:extLst>
          </p:cNvPr>
          <p:cNvSpPr/>
          <p:nvPr/>
        </p:nvSpPr>
        <p:spPr>
          <a:xfrm>
            <a:off x="3387852" y="1606854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Node.js + Express (HTTP)</a:t>
            </a:r>
            <a:endParaRPr lang="en-US" dirty="0"/>
          </a:p>
        </p:txBody>
      </p:sp>
      <p:sp>
        <p:nvSpPr>
          <p:cNvPr id="59" name="Text 15">
            <a:extLst>
              <a:ext uri="{FF2B5EF4-FFF2-40B4-BE49-F238E27FC236}">
                <a16:creationId xmlns:a16="http://schemas.microsoft.com/office/drawing/2014/main" id="{4224B703-051B-DEB8-31C9-70261E385372}"/>
              </a:ext>
            </a:extLst>
          </p:cNvPr>
          <p:cNvSpPr/>
          <p:nvPr/>
        </p:nvSpPr>
        <p:spPr>
          <a:xfrm>
            <a:off x="3387852" y="2153056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Socket.IO Server (WS)</a:t>
            </a:r>
            <a:endParaRPr lang="en-US" dirty="0"/>
          </a:p>
        </p:txBody>
      </p:sp>
      <p:sp>
        <p:nvSpPr>
          <p:cNvPr id="60" name="Text 16">
            <a:extLst>
              <a:ext uri="{FF2B5EF4-FFF2-40B4-BE49-F238E27FC236}">
                <a16:creationId xmlns:a16="http://schemas.microsoft.com/office/drawing/2014/main" id="{88C4F51F-5914-D614-0B78-91D9F28D1CFD}"/>
              </a:ext>
            </a:extLst>
          </p:cNvPr>
          <p:cNvSpPr/>
          <p:nvPr/>
        </p:nvSpPr>
        <p:spPr>
          <a:xfrm>
            <a:off x="3387852" y="2674212"/>
            <a:ext cx="2642616" cy="329184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r>
              <a:rPr lang="en-GB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 &amp; User Manager (In-memory Map)</a:t>
            </a:r>
            <a:endParaRPr lang="en-US" dirty="0"/>
          </a:p>
        </p:txBody>
      </p:sp>
      <p:sp>
        <p:nvSpPr>
          <p:cNvPr id="61" name="Text 17">
            <a:extLst>
              <a:ext uri="{FF2B5EF4-FFF2-40B4-BE49-F238E27FC236}">
                <a16:creationId xmlns:a16="http://schemas.microsoft.com/office/drawing/2014/main" id="{BA9BB99C-4CCC-34A0-0C85-10F5A4673ED9}"/>
              </a:ext>
            </a:extLst>
          </p:cNvPr>
          <p:cNvSpPr/>
          <p:nvPr/>
        </p:nvSpPr>
        <p:spPr>
          <a:xfrm>
            <a:off x="3387852" y="3265484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Event Handler</a:t>
            </a:r>
            <a:endParaRPr lang="en-US" dirty="0"/>
          </a:p>
        </p:txBody>
      </p:sp>
      <p:sp>
        <p:nvSpPr>
          <p:cNvPr id="62" name="Shape 18">
            <a:extLst>
              <a:ext uri="{FF2B5EF4-FFF2-40B4-BE49-F238E27FC236}">
                <a16:creationId xmlns:a16="http://schemas.microsoft.com/office/drawing/2014/main" id="{7288F6F1-4A95-58F8-E33B-3B5F1F8C2F64}"/>
              </a:ext>
            </a:extLst>
          </p:cNvPr>
          <p:cNvSpPr/>
          <p:nvPr/>
        </p:nvSpPr>
        <p:spPr>
          <a:xfrm>
            <a:off x="6366012" y="1149654"/>
            <a:ext cx="2697480" cy="2093976"/>
          </a:xfrm>
          <a:prstGeom prst="rect">
            <a:avLst/>
          </a:prstGeom>
          <a:solidFill>
            <a:srgbClr val="FFFFFF"/>
          </a:solidFill>
          <a:ln w="1651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N" sz="3200"/>
          </a:p>
        </p:txBody>
      </p:sp>
      <p:sp>
        <p:nvSpPr>
          <p:cNvPr id="63" name="Shape 19">
            <a:extLst>
              <a:ext uri="{FF2B5EF4-FFF2-40B4-BE49-F238E27FC236}">
                <a16:creationId xmlns:a16="http://schemas.microsoft.com/office/drawing/2014/main" id="{DDA83888-D92C-8B2A-8C7D-1AC8D5B396D3}"/>
              </a:ext>
            </a:extLst>
          </p:cNvPr>
          <p:cNvSpPr/>
          <p:nvPr/>
        </p:nvSpPr>
        <p:spPr>
          <a:xfrm>
            <a:off x="6366012" y="1149654"/>
            <a:ext cx="2697480" cy="3474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N" sz="3200"/>
          </a:p>
        </p:txBody>
      </p:sp>
      <p:sp>
        <p:nvSpPr>
          <p:cNvPr id="64" name="Text 20">
            <a:extLst>
              <a:ext uri="{FF2B5EF4-FFF2-40B4-BE49-F238E27FC236}">
                <a16:creationId xmlns:a16="http://schemas.microsoft.com/office/drawing/2014/main" id="{3038BBF0-6ADB-50DB-2937-20596FCBD9CD}"/>
              </a:ext>
            </a:extLst>
          </p:cNvPr>
          <p:cNvSpPr/>
          <p:nvPr/>
        </p:nvSpPr>
        <p:spPr>
          <a:xfrm>
            <a:off x="6439164" y="1195374"/>
            <a:ext cx="2551176" cy="256032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endParaRPr lang="en-US" dirty="0"/>
          </a:p>
        </p:txBody>
      </p:sp>
      <p:sp>
        <p:nvSpPr>
          <p:cNvPr id="65" name="Text 21">
            <a:extLst>
              <a:ext uri="{FF2B5EF4-FFF2-40B4-BE49-F238E27FC236}">
                <a16:creationId xmlns:a16="http://schemas.microsoft.com/office/drawing/2014/main" id="{90CE29D2-DBA8-C6BF-0CFE-4E0EE7BE5BFA}"/>
              </a:ext>
            </a:extLst>
          </p:cNvPr>
          <p:cNvSpPr/>
          <p:nvPr/>
        </p:nvSpPr>
        <p:spPr>
          <a:xfrm>
            <a:off x="6530604" y="1606854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Render Cloud Platform</a:t>
            </a:r>
            <a:endParaRPr lang="en-US" dirty="0"/>
          </a:p>
        </p:txBody>
      </p:sp>
      <p:sp>
        <p:nvSpPr>
          <p:cNvPr id="66" name="Text 22">
            <a:extLst>
              <a:ext uri="{FF2B5EF4-FFF2-40B4-BE49-F238E27FC236}">
                <a16:creationId xmlns:a16="http://schemas.microsoft.com/office/drawing/2014/main" id="{68801E6C-7C52-F46E-8C37-0AD2EECEC1BA}"/>
              </a:ext>
            </a:extLst>
          </p:cNvPr>
          <p:cNvSpPr/>
          <p:nvPr/>
        </p:nvSpPr>
        <p:spPr>
          <a:xfrm>
            <a:off x="6530604" y="2082342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GitHub CI/CD</a:t>
            </a:r>
            <a:endParaRPr lang="en-US" dirty="0"/>
          </a:p>
        </p:txBody>
      </p:sp>
      <p:sp>
        <p:nvSpPr>
          <p:cNvPr id="67" name="Text 23">
            <a:extLst>
              <a:ext uri="{FF2B5EF4-FFF2-40B4-BE49-F238E27FC236}">
                <a16:creationId xmlns:a16="http://schemas.microsoft.com/office/drawing/2014/main" id="{C5B8D374-6627-FA52-AF2F-D5123F1A7BDB}"/>
              </a:ext>
            </a:extLst>
          </p:cNvPr>
          <p:cNvSpPr/>
          <p:nvPr/>
        </p:nvSpPr>
        <p:spPr>
          <a:xfrm>
            <a:off x="6530604" y="2557830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HTTPS + WSS</a:t>
            </a:r>
            <a:endParaRPr lang="en-US" dirty="0"/>
          </a:p>
        </p:txBody>
      </p:sp>
      <p:sp>
        <p:nvSpPr>
          <p:cNvPr id="68" name="Text 24">
            <a:extLst>
              <a:ext uri="{FF2B5EF4-FFF2-40B4-BE49-F238E27FC236}">
                <a16:creationId xmlns:a16="http://schemas.microsoft.com/office/drawing/2014/main" id="{4BC5B84D-40C3-A2FE-CFA3-09E64FCA0EC1}"/>
              </a:ext>
            </a:extLst>
          </p:cNvPr>
          <p:cNvSpPr/>
          <p:nvPr/>
        </p:nvSpPr>
        <p:spPr>
          <a:xfrm>
            <a:off x="2967228" y="1936038"/>
            <a:ext cx="146304" cy="768096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000" dirty="0">
                <a:solidFill>
                  <a:srgbClr val="00B4D8"/>
                </a:solidFill>
              </a:rPr>
              <a:t>⟷</a:t>
            </a:r>
            <a:endParaRPr lang="en-US" sz="4000" dirty="0"/>
          </a:p>
        </p:txBody>
      </p:sp>
      <p:sp>
        <p:nvSpPr>
          <p:cNvPr id="69" name="Text 25">
            <a:extLst>
              <a:ext uri="{FF2B5EF4-FFF2-40B4-BE49-F238E27FC236}">
                <a16:creationId xmlns:a16="http://schemas.microsoft.com/office/drawing/2014/main" id="{B9B41048-0836-B25C-8C37-A0CC61CC53FB}"/>
              </a:ext>
            </a:extLst>
          </p:cNvPr>
          <p:cNvSpPr/>
          <p:nvPr/>
        </p:nvSpPr>
        <p:spPr>
          <a:xfrm>
            <a:off x="5914776" y="227893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000" dirty="0">
                <a:solidFill>
                  <a:srgbClr val="00B4D8"/>
                </a:solidFill>
              </a:rPr>
              <a:t>⟷</a:t>
            </a:r>
            <a:endParaRPr lang="en-US" sz="4000" dirty="0"/>
          </a:p>
        </p:txBody>
      </p:sp>
      <p:sp>
        <p:nvSpPr>
          <p:cNvPr id="71" name="Text 13">
            <a:extLst>
              <a:ext uri="{FF2B5EF4-FFF2-40B4-BE49-F238E27FC236}">
                <a16:creationId xmlns:a16="http://schemas.microsoft.com/office/drawing/2014/main" id="{EE9ECFC9-34CC-938E-FBDC-A286BE53ACF0}"/>
              </a:ext>
            </a:extLst>
          </p:cNvPr>
          <p:cNvSpPr/>
          <p:nvPr/>
        </p:nvSpPr>
        <p:spPr>
          <a:xfrm>
            <a:off x="6411732" y="1181357"/>
            <a:ext cx="2551176" cy="256032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8549640" y="128016"/>
            <a:ext cx="438912" cy="23774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9640" y="128016"/>
            <a:ext cx="4389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00" dirty="0"/>
          </a:p>
        </p:txBody>
      </p:sp>
      <p:sp>
        <p:nvSpPr>
          <p:cNvPr id="37" name="Text 5">
            <a:extLst>
              <a:ext uri="{FF2B5EF4-FFF2-40B4-BE49-F238E27FC236}">
                <a16:creationId xmlns:a16="http://schemas.microsoft.com/office/drawing/2014/main" id="{7C6C78A1-449B-4D0E-F121-FD029EF61ECF}"/>
              </a:ext>
            </a:extLst>
          </p:cNvPr>
          <p:cNvSpPr/>
          <p:nvPr/>
        </p:nvSpPr>
        <p:spPr>
          <a:xfrm>
            <a:off x="365760" y="1071645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  User Management</a:t>
            </a:r>
            <a:endParaRPr lang="en-US" dirty="0"/>
          </a:p>
        </p:txBody>
      </p:sp>
      <p:sp>
        <p:nvSpPr>
          <p:cNvPr id="38" name="Text 6">
            <a:extLst>
              <a:ext uri="{FF2B5EF4-FFF2-40B4-BE49-F238E27FC236}">
                <a16:creationId xmlns:a16="http://schemas.microsoft.com/office/drawing/2014/main" id="{22460F36-344F-F865-1088-3315B5DF0F17}"/>
              </a:ext>
            </a:extLst>
          </p:cNvPr>
          <p:cNvSpPr/>
          <p:nvPr/>
        </p:nvSpPr>
        <p:spPr>
          <a:xfrm>
            <a:off x="3383280" y="1042568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socket registration and username management.</a:t>
            </a:r>
          </a:p>
          <a:p>
            <a:r>
              <a:rPr lang="en-GB" sz="1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active users and broadcasts join/leave events.</a:t>
            </a:r>
            <a:endParaRPr lang="en-US" sz="1600" dirty="0"/>
          </a:p>
        </p:txBody>
      </p:sp>
      <p:sp>
        <p:nvSpPr>
          <p:cNvPr id="39" name="Shape 7">
            <a:extLst>
              <a:ext uri="{FF2B5EF4-FFF2-40B4-BE49-F238E27FC236}">
                <a16:creationId xmlns:a16="http://schemas.microsoft.com/office/drawing/2014/main" id="{455C5761-94C3-B9ED-20B6-FADCDC92F05C}"/>
              </a:ext>
            </a:extLst>
          </p:cNvPr>
          <p:cNvSpPr/>
          <p:nvPr/>
        </p:nvSpPr>
        <p:spPr>
          <a:xfrm>
            <a:off x="365760" y="1479042"/>
            <a:ext cx="8412480" cy="18288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IN" sz="3200"/>
          </a:p>
        </p:txBody>
      </p:sp>
      <p:sp>
        <p:nvSpPr>
          <p:cNvPr id="40" name="Text 8">
            <a:extLst>
              <a:ext uri="{FF2B5EF4-FFF2-40B4-BE49-F238E27FC236}">
                <a16:creationId xmlns:a16="http://schemas.microsoft.com/office/drawing/2014/main" id="{95C18F69-1AAB-A4EC-E90A-4110CC74B8C2}"/>
              </a:ext>
            </a:extLst>
          </p:cNvPr>
          <p:cNvSpPr/>
          <p:nvPr/>
        </p:nvSpPr>
        <p:spPr>
          <a:xfrm>
            <a:off x="365760" y="163449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  Room Management</a:t>
            </a:r>
            <a:endParaRPr lang="en-US" dirty="0"/>
          </a:p>
        </p:txBody>
      </p:sp>
      <p:sp>
        <p:nvSpPr>
          <p:cNvPr id="41" name="Text 9">
            <a:extLst>
              <a:ext uri="{FF2B5EF4-FFF2-40B4-BE49-F238E27FC236}">
                <a16:creationId xmlns:a16="http://schemas.microsoft.com/office/drawing/2014/main" id="{7553FECA-BE3E-804B-6B1A-48BA65FF5753}"/>
              </a:ext>
            </a:extLst>
          </p:cNvPr>
          <p:cNvSpPr/>
          <p:nvPr/>
        </p:nvSpPr>
        <p:spPr>
          <a:xfrm>
            <a:off x="3383280" y="1634490"/>
            <a:ext cx="5605272" cy="18795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and manages chat rooms. </a:t>
            </a:r>
          </a:p>
          <a:p>
            <a:r>
              <a:rPr lang="en-GB" sz="1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 passwords, enforces limits, and removes empty rooms.</a:t>
            </a:r>
            <a:endParaRPr lang="en-US" sz="1600" dirty="0"/>
          </a:p>
        </p:txBody>
      </p:sp>
      <p:sp>
        <p:nvSpPr>
          <p:cNvPr id="42" name="Shape 10">
            <a:extLst>
              <a:ext uri="{FF2B5EF4-FFF2-40B4-BE49-F238E27FC236}">
                <a16:creationId xmlns:a16="http://schemas.microsoft.com/office/drawing/2014/main" id="{6E903808-2B95-E7E7-E173-CC092DBE9BB4}"/>
              </a:ext>
            </a:extLst>
          </p:cNvPr>
          <p:cNvSpPr/>
          <p:nvPr/>
        </p:nvSpPr>
        <p:spPr>
          <a:xfrm>
            <a:off x="356616" y="2051040"/>
            <a:ext cx="8412480" cy="18288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IN" sz="3200"/>
          </a:p>
        </p:txBody>
      </p:sp>
      <p:sp>
        <p:nvSpPr>
          <p:cNvPr id="43" name="Text 11">
            <a:extLst>
              <a:ext uri="{FF2B5EF4-FFF2-40B4-BE49-F238E27FC236}">
                <a16:creationId xmlns:a16="http://schemas.microsoft.com/office/drawing/2014/main" id="{A2ABA9CE-6295-4029-D7AE-8839B7CB2D3D}"/>
              </a:ext>
            </a:extLst>
          </p:cNvPr>
          <p:cNvSpPr/>
          <p:nvPr/>
        </p:nvSpPr>
        <p:spPr>
          <a:xfrm>
            <a:off x="365760" y="2218315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  Messaging</a:t>
            </a:r>
            <a:endParaRPr lang="en-US" dirty="0"/>
          </a:p>
        </p:txBody>
      </p:sp>
      <p:sp>
        <p:nvSpPr>
          <p:cNvPr id="44" name="Text 12">
            <a:extLst>
              <a:ext uri="{FF2B5EF4-FFF2-40B4-BE49-F238E27FC236}">
                <a16:creationId xmlns:a16="http://schemas.microsoft.com/office/drawing/2014/main" id="{FD5A6A8F-86C5-16B3-77BF-F3C82D7D1188}"/>
              </a:ext>
            </a:extLst>
          </p:cNvPr>
          <p:cNvSpPr/>
          <p:nvPr/>
        </p:nvSpPr>
        <p:spPr>
          <a:xfrm>
            <a:off x="3383280" y="2208573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sending and receiving messages using Socket.IO.</a:t>
            </a:r>
          </a:p>
          <a:p>
            <a:r>
              <a:rPr lang="en-GB" sz="1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Broadcasts messages to all users within a room.</a:t>
            </a:r>
            <a:endParaRPr lang="en-US" sz="1600" dirty="0"/>
          </a:p>
        </p:txBody>
      </p:sp>
      <p:sp>
        <p:nvSpPr>
          <p:cNvPr id="45" name="Shape 13">
            <a:extLst>
              <a:ext uri="{FF2B5EF4-FFF2-40B4-BE49-F238E27FC236}">
                <a16:creationId xmlns:a16="http://schemas.microsoft.com/office/drawing/2014/main" id="{9C90E4D2-ECBD-87F1-9F15-2629AB953A42}"/>
              </a:ext>
            </a:extLst>
          </p:cNvPr>
          <p:cNvSpPr/>
          <p:nvPr/>
        </p:nvSpPr>
        <p:spPr>
          <a:xfrm>
            <a:off x="365760" y="2623729"/>
            <a:ext cx="8412480" cy="18288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IN" sz="3200"/>
          </a:p>
        </p:txBody>
      </p:sp>
      <p:sp>
        <p:nvSpPr>
          <p:cNvPr id="46" name="Text 14">
            <a:extLst>
              <a:ext uri="{FF2B5EF4-FFF2-40B4-BE49-F238E27FC236}">
                <a16:creationId xmlns:a16="http://schemas.microsoft.com/office/drawing/2014/main" id="{1E75738B-33A7-AB4C-DF20-2AD0F64CB6C7}"/>
              </a:ext>
            </a:extLst>
          </p:cNvPr>
          <p:cNvSpPr/>
          <p:nvPr/>
        </p:nvSpPr>
        <p:spPr>
          <a:xfrm>
            <a:off x="365760" y="275989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M4  Typing Indicator</a:t>
            </a:r>
            <a:endParaRPr lang="en-US" dirty="0"/>
          </a:p>
        </p:txBody>
      </p:sp>
      <p:sp>
        <p:nvSpPr>
          <p:cNvPr id="47" name="Text 15">
            <a:extLst>
              <a:ext uri="{FF2B5EF4-FFF2-40B4-BE49-F238E27FC236}">
                <a16:creationId xmlns:a16="http://schemas.microsoft.com/office/drawing/2014/main" id="{6775F5DC-96B9-689E-C4E8-487E1F0A2293}"/>
              </a:ext>
            </a:extLst>
          </p:cNvPr>
          <p:cNvSpPr/>
          <p:nvPr/>
        </p:nvSpPr>
        <p:spPr>
          <a:xfrm>
            <a:off x="3383280" y="2759898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typing events from users.</a:t>
            </a:r>
          </a:p>
          <a:p>
            <a:r>
              <a:rPr lang="en-GB" sz="1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Displays real-time typing indicators in the chat room.</a:t>
            </a:r>
            <a:endParaRPr lang="en-US" sz="1600" dirty="0"/>
          </a:p>
        </p:txBody>
      </p:sp>
      <p:sp>
        <p:nvSpPr>
          <p:cNvPr id="48" name="Shape 16">
            <a:extLst>
              <a:ext uri="{FF2B5EF4-FFF2-40B4-BE49-F238E27FC236}">
                <a16:creationId xmlns:a16="http://schemas.microsoft.com/office/drawing/2014/main" id="{41790807-7170-7ACE-5F00-F1021069AE1A}"/>
              </a:ext>
            </a:extLst>
          </p:cNvPr>
          <p:cNvSpPr/>
          <p:nvPr/>
        </p:nvSpPr>
        <p:spPr>
          <a:xfrm>
            <a:off x="365760" y="3188969"/>
            <a:ext cx="8412480" cy="18288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IN" sz="3200"/>
          </a:p>
        </p:txBody>
      </p:sp>
      <p:sp>
        <p:nvSpPr>
          <p:cNvPr id="49" name="Text 17">
            <a:extLst>
              <a:ext uri="{FF2B5EF4-FFF2-40B4-BE49-F238E27FC236}">
                <a16:creationId xmlns:a16="http://schemas.microsoft.com/office/drawing/2014/main" id="{5993DCFF-0B67-278D-02CB-2095541C3884}"/>
              </a:ext>
            </a:extLst>
          </p:cNvPr>
          <p:cNvSpPr/>
          <p:nvPr/>
        </p:nvSpPr>
        <p:spPr>
          <a:xfrm>
            <a:off x="356616" y="3450864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M5  Frontend UI</a:t>
            </a:r>
            <a:endParaRPr lang="en-US" dirty="0"/>
          </a:p>
        </p:txBody>
      </p:sp>
      <p:sp>
        <p:nvSpPr>
          <p:cNvPr id="50" name="Text 18">
            <a:extLst>
              <a:ext uri="{FF2B5EF4-FFF2-40B4-BE49-F238E27FC236}">
                <a16:creationId xmlns:a16="http://schemas.microsoft.com/office/drawing/2014/main" id="{5D927BC6-CE6F-AB1D-0736-1188B92E9192}"/>
              </a:ext>
            </a:extLst>
          </p:cNvPr>
          <p:cNvSpPr/>
          <p:nvPr/>
        </p:nvSpPr>
        <p:spPr>
          <a:xfrm>
            <a:off x="3383280" y="3499865"/>
            <a:ext cx="5605272" cy="226812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browser interface built with HTML, CSS, and JavaScript.</a:t>
            </a:r>
          </a:p>
          <a:p>
            <a:r>
              <a:rPr lang="en-GB" sz="1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Updates chat messages dynamically without page reloads.</a:t>
            </a:r>
            <a:endParaRPr lang="en-US" sz="1600" dirty="0"/>
          </a:p>
        </p:txBody>
      </p:sp>
      <p:sp>
        <p:nvSpPr>
          <p:cNvPr id="51" name="Shape 19">
            <a:extLst>
              <a:ext uri="{FF2B5EF4-FFF2-40B4-BE49-F238E27FC236}">
                <a16:creationId xmlns:a16="http://schemas.microsoft.com/office/drawing/2014/main" id="{ECB799A6-CC52-941F-722B-257837CB5217}"/>
              </a:ext>
            </a:extLst>
          </p:cNvPr>
          <p:cNvSpPr/>
          <p:nvPr/>
        </p:nvSpPr>
        <p:spPr>
          <a:xfrm>
            <a:off x="356616" y="4049492"/>
            <a:ext cx="8412480" cy="18288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IN" sz="3200"/>
          </a:p>
        </p:txBody>
      </p:sp>
      <p:sp>
        <p:nvSpPr>
          <p:cNvPr id="52" name="Text 20">
            <a:extLst>
              <a:ext uri="{FF2B5EF4-FFF2-40B4-BE49-F238E27FC236}">
                <a16:creationId xmlns:a16="http://schemas.microsoft.com/office/drawing/2014/main" id="{D165138D-423C-A447-1C24-FE425CCE3407}"/>
              </a:ext>
            </a:extLst>
          </p:cNvPr>
          <p:cNvSpPr/>
          <p:nvPr/>
        </p:nvSpPr>
        <p:spPr>
          <a:xfrm>
            <a:off x="411480" y="4172742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M6  Deployment</a:t>
            </a:r>
            <a:endParaRPr lang="en-US" dirty="0"/>
          </a:p>
        </p:txBody>
      </p:sp>
      <p:sp>
        <p:nvSpPr>
          <p:cNvPr id="53" name="Text 21">
            <a:extLst>
              <a:ext uri="{FF2B5EF4-FFF2-40B4-BE49-F238E27FC236}">
                <a16:creationId xmlns:a16="http://schemas.microsoft.com/office/drawing/2014/main" id="{16ABD525-3323-CA68-1CE4-DC954C96CB0F}"/>
              </a:ext>
            </a:extLst>
          </p:cNvPr>
          <p:cNvSpPr/>
          <p:nvPr/>
        </p:nvSpPr>
        <p:spPr>
          <a:xfrm>
            <a:off x="3383280" y="4035282"/>
            <a:ext cx="5482424" cy="654489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deployed on Render cloud platform.</a:t>
            </a:r>
          </a:p>
          <a:p>
            <a:r>
              <a:rPr lang="en-GB" sz="1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deployment triggered via GitHub integration.</a:t>
            </a:r>
            <a:endParaRPr lang="en-US" sz="1600" dirty="0"/>
          </a:p>
        </p:txBody>
      </p:sp>
      <p:sp>
        <p:nvSpPr>
          <p:cNvPr id="54" name="Shape 22">
            <a:extLst>
              <a:ext uri="{FF2B5EF4-FFF2-40B4-BE49-F238E27FC236}">
                <a16:creationId xmlns:a16="http://schemas.microsoft.com/office/drawing/2014/main" id="{35D066B3-9578-BB30-F976-3455D8C7AF7A}"/>
              </a:ext>
            </a:extLst>
          </p:cNvPr>
          <p:cNvSpPr/>
          <p:nvPr/>
        </p:nvSpPr>
        <p:spPr>
          <a:xfrm>
            <a:off x="365760" y="4677349"/>
            <a:ext cx="8412480" cy="18288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IN" sz="32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5"/>
          <p:cNvSpPr/>
          <p:nvPr/>
        </p:nvSpPr>
        <p:spPr>
          <a:xfrm>
            <a:off x="1280160" y="854310"/>
            <a:ext cx="7543800" cy="4160520"/>
          </a:xfrm>
          <a:prstGeom prst="rect">
            <a:avLst/>
          </a:prstGeom>
          <a:solidFill>
            <a:srgbClr val="FFFFFF"/>
          </a:solidFill>
          <a:ln w="19050">
            <a:solidFill>
              <a:srgbClr val="0D1B2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54864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365760" y="82296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UML – Use Case Diagram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8549640" y="128016"/>
            <a:ext cx="438912" cy="23774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8549640" y="128016"/>
            <a:ext cx="4389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280160" y="868680"/>
            <a:ext cx="7543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i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«system»  Open Chat Application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01168" y="1916262"/>
            <a:ext cx="329184" cy="329184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sz="3600"/>
          </a:p>
        </p:txBody>
      </p:sp>
      <p:sp>
        <p:nvSpPr>
          <p:cNvPr id="10" name="Shape 8"/>
          <p:cNvSpPr/>
          <p:nvPr/>
        </p:nvSpPr>
        <p:spPr>
          <a:xfrm>
            <a:off x="338328" y="2245446"/>
            <a:ext cx="27432" cy="38404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sz="3600"/>
          </a:p>
        </p:txBody>
      </p:sp>
      <p:sp>
        <p:nvSpPr>
          <p:cNvPr id="11" name="Shape 9"/>
          <p:cNvSpPr/>
          <p:nvPr/>
        </p:nvSpPr>
        <p:spPr>
          <a:xfrm>
            <a:off x="164592" y="2391750"/>
            <a:ext cx="402336" cy="2743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sz="3600"/>
          </a:p>
        </p:txBody>
      </p:sp>
      <p:sp>
        <p:nvSpPr>
          <p:cNvPr id="12" name="Shape 10"/>
          <p:cNvSpPr/>
          <p:nvPr/>
        </p:nvSpPr>
        <p:spPr>
          <a:xfrm>
            <a:off x="219456" y="2629494"/>
            <a:ext cx="27432" cy="329184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sz="3600"/>
          </a:p>
        </p:txBody>
      </p:sp>
      <p:sp>
        <p:nvSpPr>
          <p:cNvPr id="13" name="Shape 11"/>
          <p:cNvSpPr/>
          <p:nvPr/>
        </p:nvSpPr>
        <p:spPr>
          <a:xfrm>
            <a:off x="457200" y="2629494"/>
            <a:ext cx="27432" cy="329184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sz="3600"/>
          </a:p>
        </p:txBody>
      </p:sp>
      <p:sp>
        <p:nvSpPr>
          <p:cNvPr id="14" name="Text 12"/>
          <p:cNvSpPr/>
          <p:nvPr/>
        </p:nvSpPr>
        <p:spPr>
          <a:xfrm>
            <a:off x="109728" y="2995254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508760" y="1440774"/>
            <a:ext cx="2423160" cy="402336"/>
          </a:xfrm>
          <a:prstGeom prst="ellipse">
            <a:avLst/>
          </a:prstGeom>
          <a:solidFill>
            <a:srgbClr val="F0F4F8"/>
          </a:solidFill>
          <a:ln w="16510">
            <a:solidFill>
              <a:srgbClr val="00B4D8"/>
            </a:solidFill>
            <a:prstDash val="solid"/>
          </a:ln>
        </p:spPr>
        <p:txBody>
          <a:bodyPr/>
          <a:lstStyle/>
          <a:p>
            <a:endParaRPr sz="3600"/>
          </a:p>
        </p:txBody>
      </p:sp>
      <p:sp>
        <p:nvSpPr>
          <p:cNvPr id="16" name="Text 14"/>
          <p:cNvSpPr/>
          <p:nvPr/>
        </p:nvSpPr>
        <p:spPr>
          <a:xfrm>
            <a:off x="1719072" y="1440774"/>
            <a:ext cx="2423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Room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66928" y="1632798"/>
            <a:ext cx="941832" cy="18288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  <p:txBody>
          <a:bodyPr/>
          <a:lstStyle/>
          <a:p>
            <a:endParaRPr sz="3600"/>
          </a:p>
        </p:txBody>
      </p:sp>
      <p:sp>
        <p:nvSpPr>
          <p:cNvPr id="18" name="Shape 16"/>
          <p:cNvSpPr/>
          <p:nvPr/>
        </p:nvSpPr>
        <p:spPr>
          <a:xfrm>
            <a:off x="5120640" y="1440774"/>
            <a:ext cx="2423160" cy="402336"/>
          </a:xfrm>
          <a:prstGeom prst="ellipse">
            <a:avLst/>
          </a:prstGeom>
          <a:solidFill>
            <a:srgbClr val="F0F4F8"/>
          </a:solidFill>
          <a:ln w="16510">
            <a:solidFill>
              <a:srgbClr val="00B4D8"/>
            </a:solidFill>
            <a:prstDash val="solid"/>
          </a:ln>
        </p:spPr>
        <p:txBody>
          <a:bodyPr/>
          <a:lstStyle/>
          <a:p>
            <a:endParaRPr sz="3600"/>
          </a:p>
        </p:txBody>
      </p:sp>
      <p:sp>
        <p:nvSpPr>
          <p:cNvPr id="19" name="Text 17"/>
          <p:cNvSpPr/>
          <p:nvPr/>
        </p:nvSpPr>
        <p:spPr>
          <a:xfrm>
            <a:off x="5120640" y="1440774"/>
            <a:ext cx="2423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Password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1508760" y="2245446"/>
            <a:ext cx="2423160" cy="402336"/>
          </a:xfrm>
          <a:prstGeom prst="ellipse">
            <a:avLst/>
          </a:prstGeom>
          <a:solidFill>
            <a:srgbClr val="F0F4F8"/>
          </a:solidFill>
          <a:ln w="16510">
            <a:solidFill>
              <a:srgbClr val="00B4D8"/>
            </a:solidFill>
            <a:prstDash val="solid"/>
          </a:ln>
        </p:spPr>
        <p:txBody>
          <a:bodyPr/>
          <a:lstStyle/>
          <a:p>
            <a:endParaRPr sz="3600"/>
          </a:p>
        </p:txBody>
      </p:sp>
      <p:sp>
        <p:nvSpPr>
          <p:cNvPr id="22" name="Text 20"/>
          <p:cNvSpPr/>
          <p:nvPr/>
        </p:nvSpPr>
        <p:spPr>
          <a:xfrm>
            <a:off x="1719072" y="2245446"/>
            <a:ext cx="2423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endParaRPr lang="en-US" sz="1400" dirty="0"/>
          </a:p>
          <a:p>
            <a:pPr algn="ctr"/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Username</a:t>
            </a:r>
            <a:endParaRPr lang="en-US" sz="1400" dirty="0"/>
          </a:p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66928" y="2437470"/>
            <a:ext cx="941832" cy="18288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  <p:txBody>
          <a:bodyPr/>
          <a:lstStyle/>
          <a:p>
            <a:endParaRPr sz="3600"/>
          </a:p>
        </p:txBody>
      </p:sp>
      <p:sp>
        <p:nvSpPr>
          <p:cNvPr id="24" name="Shape 22"/>
          <p:cNvSpPr/>
          <p:nvPr/>
        </p:nvSpPr>
        <p:spPr>
          <a:xfrm>
            <a:off x="5120640" y="2245446"/>
            <a:ext cx="2423160" cy="402336"/>
          </a:xfrm>
          <a:prstGeom prst="ellipse">
            <a:avLst/>
          </a:prstGeom>
          <a:solidFill>
            <a:srgbClr val="F0F4F8"/>
          </a:solidFill>
          <a:ln w="16510">
            <a:solidFill>
              <a:srgbClr val="00B4D8"/>
            </a:solidFill>
            <a:prstDash val="solid"/>
          </a:ln>
        </p:spPr>
        <p:txBody>
          <a:bodyPr/>
          <a:lstStyle/>
          <a:p>
            <a:endParaRPr sz="3600"/>
          </a:p>
        </p:txBody>
      </p:sp>
      <p:sp>
        <p:nvSpPr>
          <p:cNvPr id="25" name="Text 23"/>
          <p:cNvSpPr/>
          <p:nvPr/>
        </p:nvSpPr>
        <p:spPr>
          <a:xfrm>
            <a:off x="5120640" y="2245446"/>
            <a:ext cx="2423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Online Users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1508760" y="3050118"/>
            <a:ext cx="2423160" cy="402336"/>
          </a:xfrm>
          <a:prstGeom prst="ellipse">
            <a:avLst/>
          </a:prstGeom>
          <a:solidFill>
            <a:srgbClr val="F0F4F8"/>
          </a:solidFill>
          <a:ln w="16510">
            <a:solidFill>
              <a:srgbClr val="00B4D8"/>
            </a:solidFill>
            <a:prstDash val="solid"/>
          </a:ln>
        </p:spPr>
        <p:txBody>
          <a:bodyPr/>
          <a:lstStyle/>
          <a:p>
            <a:endParaRPr sz="3600"/>
          </a:p>
        </p:txBody>
      </p:sp>
      <p:sp>
        <p:nvSpPr>
          <p:cNvPr id="28" name="Text 26"/>
          <p:cNvSpPr/>
          <p:nvPr/>
        </p:nvSpPr>
        <p:spPr>
          <a:xfrm>
            <a:off x="1719072" y="3050118"/>
            <a:ext cx="2423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Room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566928" y="3242142"/>
            <a:ext cx="941832" cy="18288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  <p:txBody>
          <a:bodyPr/>
          <a:lstStyle/>
          <a:p>
            <a:endParaRPr sz="3600"/>
          </a:p>
        </p:txBody>
      </p:sp>
      <p:sp>
        <p:nvSpPr>
          <p:cNvPr id="30" name="Shape 28"/>
          <p:cNvSpPr/>
          <p:nvPr/>
        </p:nvSpPr>
        <p:spPr>
          <a:xfrm>
            <a:off x="5120640" y="3050118"/>
            <a:ext cx="2423160" cy="402336"/>
          </a:xfrm>
          <a:prstGeom prst="ellipse">
            <a:avLst/>
          </a:prstGeom>
          <a:solidFill>
            <a:srgbClr val="F0F4F8"/>
          </a:solidFill>
          <a:ln w="16510">
            <a:solidFill>
              <a:srgbClr val="00B4D8"/>
            </a:solidFill>
            <a:prstDash val="solid"/>
          </a:ln>
        </p:spPr>
        <p:txBody>
          <a:bodyPr/>
          <a:lstStyle/>
          <a:p>
            <a:endParaRPr sz="3600"/>
          </a:p>
        </p:txBody>
      </p:sp>
      <p:sp>
        <p:nvSpPr>
          <p:cNvPr id="31" name="Text 29"/>
          <p:cNvSpPr/>
          <p:nvPr/>
        </p:nvSpPr>
        <p:spPr>
          <a:xfrm>
            <a:off x="5120640" y="3050118"/>
            <a:ext cx="2423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Typing Indicator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1508760" y="3854790"/>
            <a:ext cx="2423160" cy="402336"/>
          </a:xfrm>
          <a:prstGeom prst="ellipse">
            <a:avLst/>
          </a:prstGeom>
          <a:solidFill>
            <a:srgbClr val="F0F4F8"/>
          </a:solidFill>
          <a:ln w="16510">
            <a:solidFill>
              <a:srgbClr val="00B4D8"/>
            </a:solidFill>
            <a:prstDash val="solid"/>
          </a:ln>
        </p:spPr>
        <p:txBody>
          <a:bodyPr/>
          <a:lstStyle/>
          <a:p>
            <a:endParaRPr sz="3600"/>
          </a:p>
        </p:txBody>
      </p:sp>
      <p:sp>
        <p:nvSpPr>
          <p:cNvPr id="34" name="Text 32"/>
          <p:cNvSpPr/>
          <p:nvPr/>
        </p:nvSpPr>
        <p:spPr>
          <a:xfrm>
            <a:off x="1719072" y="3854790"/>
            <a:ext cx="2423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Message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566928" y="4046814"/>
            <a:ext cx="941832" cy="18288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  <p:txBody>
          <a:bodyPr/>
          <a:lstStyle/>
          <a:p>
            <a:endParaRPr sz="3600"/>
          </a:p>
        </p:txBody>
      </p:sp>
      <p:sp>
        <p:nvSpPr>
          <p:cNvPr id="36" name="Shape 34"/>
          <p:cNvSpPr/>
          <p:nvPr/>
        </p:nvSpPr>
        <p:spPr>
          <a:xfrm>
            <a:off x="5120640" y="3854790"/>
            <a:ext cx="2423160" cy="402336"/>
          </a:xfrm>
          <a:prstGeom prst="ellipse">
            <a:avLst/>
          </a:prstGeom>
          <a:solidFill>
            <a:srgbClr val="F0F4F8"/>
          </a:solidFill>
          <a:ln w="16510">
            <a:solidFill>
              <a:srgbClr val="00B4D8"/>
            </a:solidFill>
            <a:prstDash val="solid"/>
          </a:ln>
        </p:spPr>
        <p:txBody>
          <a:bodyPr/>
          <a:lstStyle/>
          <a:p>
            <a:endParaRPr sz="3600"/>
          </a:p>
        </p:txBody>
      </p:sp>
      <p:sp>
        <p:nvSpPr>
          <p:cNvPr id="37" name="Text 35"/>
          <p:cNvSpPr/>
          <p:nvPr/>
        </p:nvSpPr>
        <p:spPr>
          <a:xfrm>
            <a:off x="5120640" y="3854790"/>
            <a:ext cx="2423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Room</a:t>
            </a:r>
            <a:endParaRPr lang="en-US" sz="1400" dirty="0"/>
          </a:p>
        </p:txBody>
      </p:sp>
      <p:sp>
        <p:nvSpPr>
          <p:cNvPr id="39" name="Shape 9">
            <a:extLst>
              <a:ext uri="{FF2B5EF4-FFF2-40B4-BE49-F238E27FC236}">
                <a16:creationId xmlns:a16="http://schemas.microsoft.com/office/drawing/2014/main" id="{39555CC5-B6DB-8C20-AEFD-5BBFFC3C22D1}"/>
              </a:ext>
            </a:extLst>
          </p:cNvPr>
          <p:cNvSpPr/>
          <p:nvPr/>
        </p:nvSpPr>
        <p:spPr>
          <a:xfrm>
            <a:off x="246888" y="2606634"/>
            <a:ext cx="237744" cy="45719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sz="3600"/>
          </a:p>
        </p:txBody>
      </p:sp>
      <p:sp>
        <p:nvSpPr>
          <p:cNvPr id="20" name="Shape 15">
            <a:extLst>
              <a:ext uri="{FF2B5EF4-FFF2-40B4-BE49-F238E27FC236}">
                <a16:creationId xmlns:a16="http://schemas.microsoft.com/office/drawing/2014/main" id="{64497601-B006-2481-FBCC-0D561CA632DD}"/>
              </a:ext>
            </a:extLst>
          </p:cNvPr>
          <p:cNvSpPr/>
          <p:nvPr/>
        </p:nvSpPr>
        <p:spPr>
          <a:xfrm>
            <a:off x="3931920" y="1628909"/>
            <a:ext cx="1188720" cy="45719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  <p:txBody>
          <a:bodyPr/>
          <a:lstStyle/>
          <a:p>
            <a:endParaRPr sz="3600"/>
          </a:p>
        </p:txBody>
      </p:sp>
      <p:sp>
        <p:nvSpPr>
          <p:cNvPr id="26" name="Shape 15">
            <a:extLst>
              <a:ext uri="{FF2B5EF4-FFF2-40B4-BE49-F238E27FC236}">
                <a16:creationId xmlns:a16="http://schemas.microsoft.com/office/drawing/2014/main" id="{A8E4912C-FEC5-DAB6-02B1-9A96BE951F41}"/>
              </a:ext>
            </a:extLst>
          </p:cNvPr>
          <p:cNvSpPr/>
          <p:nvPr/>
        </p:nvSpPr>
        <p:spPr>
          <a:xfrm>
            <a:off x="3940633" y="2421382"/>
            <a:ext cx="1188720" cy="45719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  <p:txBody>
          <a:bodyPr/>
          <a:lstStyle/>
          <a:p>
            <a:endParaRPr sz="3600"/>
          </a:p>
        </p:txBody>
      </p:sp>
      <p:sp>
        <p:nvSpPr>
          <p:cNvPr id="32" name="Shape 15">
            <a:extLst>
              <a:ext uri="{FF2B5EF4-FFF2-40B4-BE49-F238E27FC236}">
                <a16:creationId xmlns:a16="http://schemas.microsoft.com/office/drawing/2014/main" id="{05FA290D-33DD-1404-55DF-FBEC8E60A38B}"/>
              </a:ext>
            </a:extLst>
          </p:cNvPr>
          <p:cNvSpPr/>
          <p:nvPr/>
        </p:nvSpPr>
        <p:spPr>
          <a:xfrm>
            <a:off x="3940634" y="3231284"/>
            <a:ext cx="1188720" cy="45719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  <p:txBody>
          <a:bodyPr/>
          <a:lstStyle/>
          <a:p>
            <a:endParaRPr sz="3600"/>
          </a:p>
        </p:txBody>
      </p:sp>
      <p:sp>
        <p:nvSpPr>
          <p:cNvPr id="38" name="Shape 15">
            <a:extLst>
              <a:ext uri="{FF2B5EF4-FFF2-40B4-BE49-F238E27FC236}">
                <a16:creationId xmlns:a16="http://schemas.microsoft.com/office/drawing/2014/main" id="{D7A3BF2E-6B4C-4BFA-EBE6-FE3D217A99BF}"/>
              </a:ext>
            </a:extLst>
          </p:cNvPr>
          <p:cNvSpPr/>
          <p:nvPr/>
        </p:nvSpPr>
        <p:spPr>
          <a:xfrm>
            <a:off x="3940636" y="4041174"/>
            <a:ext cx="1188720" cy="45719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  <p:txBody>
          <a:bodyPr/>
          <a:lstStyle/>
          <a:p>
            <a:endParaRPr sz="36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UML – Class Diagram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8549640" y="128016"/>
            <a:ext cx="438912" cy="23774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9640" y="128016"/>
            <a:ext cx="4389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82880" y="960120"/>
            <a:ext cx="2651760" cy="1938528"/>
          </a:xfrm>
          <a:prstGeom prst="rect">
            <a:avLst/>
          </a:prstGeom>
          <a:solidFill>
            <a:srgbClr val="FFFFFF"/>
          </a:solidFill>
          <a:ln w="19050">
            <a:solidFill>
              <a:srgbClr val="0D1B2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82880" y="960120"/>
            <a:ext cx="2651760" cy="47548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2880" y="996696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«class»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82880" y="1197864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ChatServer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182880" y="1435608"/>
            <a:ext cx="2651760" cy="731520"/>
          </a:xfrm>
          <a:prstGeom prst="rect">
            <a:avLst/>
          </a:prstGeom>
          <a:solidFill>
            <a:srgbClr val="F0F4F8"/>
          </a:solidFill>
          <a:ln w="6350">
            <a:solidFill>
              <a:srgbClr val="0D1B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92608" y="1527048"/>
            <a:ext cx="2487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port : Number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92608" y="1801368"/>
            <a:ext cx="2487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rooms : Map&lt;String, Room&gt;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182880" y="2167128"/>
            <a:ext cx="265176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0D1B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92608" y="2258568"/>
            <a:ext cx="2487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listen() : void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92608" y="2532888"/>
            <a:ext cx="2487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handleConnection(socket)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246120" y="960120"/>
            <a:ext cx="2651760" cy="3310128"/>
          </a:xfrm>
          <a:prstGeom prst="rect">
            <a:avLst/>
          </a:prstGeom>
          <a:solidFill>
            <a:srgbClr val="FFFFFF"/>
          </a:solidFill>
          <a:ln w="19050">
            <a:solidFill>
              <a:srgbClr val="0D1B2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46120" y="960120"/>
            <a:ext cx="2651760" cy="47548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46120" y="996696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«class»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246120" y="1197864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3246120" y="1435608"/>
            <a:ext cx="2651760" cy="1554480"/>
          </a:xfrm>
          <a:prstGeom prst="rect">
            <a:avLst/>
          </a:prstGeom>
          <a:solidFill>
            <a:srgbClr val="F0F4F8"/>
          </a:solidFill>
          <a:ln w="6350">
            <a:solidFill>
              <a:srgbClr val="0D1B2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55848" y="1527048"/>
            <a:ext cx="2487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roomId : String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355848" y="1801368"/>
            <a:ext cx="2487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name : String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355848" y="2075688"/>
            <a:ext cx="2487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password : String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355848" y="2350008"/>
            <a:ext cx="2487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maxUsers : Number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3355848" y="2624328"/>
            <a:ext cx="2487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users : List&lt;User&gt;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3246120" y="2990088"/>
            <a:ext cx="265176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0D1B2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355848" y="3081528"/>
            <a:ext cx="2487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addUser(u) : void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3355848" y="3355848"/>
            <a:ext cx="2487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removeUser(id) : void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355848" y="3630168"/>
            <a:ext cx="2487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isEmpty() : Boolean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3355848" y="3904488"/>
            <a:ext cx="2487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isPrivate() : Boolean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6309360" y="960120"/>
            <a:ext cx="2651760" cy="2212848"/>
          </a:xfrm>
          <a:prstGeom prst="rect">
            <a:avLst/>
          </a:prstGeom>
          <a:solidFill>
            <a:srgbClr val="FFFFFF"/>
          </a:solidFill>
          <a:ln w="19050">
            <a:solidFill>
              <a:srgbClr val="0D1B2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309360" y="960120"/>
            <a:ext cx="2651760" cy="47548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309360" y="996696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«class»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309360" y="1197864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2000" dirty="0"/>
          </a:p>
        </p:txBody>
      </p:sp>
      <p:sp>
        <p:nvSpPr>
          <p:cNvPr id="36" name="Shape 34"/>
          <p:cNvSpPr/>
          <p:nvPr/>
        </p:nvSpPr>
        <p:spPr>
          <a:xfrm>
            <a:off x="6309360" y="1435608"/>
            <a:ext cx="2651760" cy="1005840"/>
          </a:xfrm>
          <a:prstGeom prst="rect">
            <a:avLst/>
          </a:prstGeom>
          <a:solidFill>
            <a:srgbClr val="F0F4F8"/>
          </a:solidFill>
          <a:ln w="6350">
            <a:solidFill>
              <a:srgbClr val="0D1B2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19088" y="1527048"/>
            <a:ext cx="2487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socketId : String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6419088" y="1801368"/>
            <a:ext cx="2487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username : String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6419088" y="2075688"/>
            <a:ext cx="2487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roomId : String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6309360" y="2441448"/>
            <a:ext cx="265176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0D1B2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419088" y="2532888"/>
            <a:ext cx="2487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sendMessage(msg) : void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6419088" y="2807208"/>
            <a:ext cx="2487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disconnect() : void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2834640" y="1197864"/>
            <a:ext cx="411480" cy="1828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761488" y="1024128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3008376" y="1033272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</a:t>
            </a:r>
            <a:endParaRPr lang="en-US" sz="2000" dirty="0"/>
          </a:p>
        </p:txBody>
      </p:sp>
      <p:sp>
        <p:nvSpPr>
          <p:cNvPr id="46" name="Text 44"/>
          <p:cNvSpPr/>
          <p:nvPr/>
        </p:nvSpPr>
        <p:spPr>
          <a:xfrm>
            <a:off x="3118104" y="1143000"/>
            <a:ext cx="14630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5897880" y="1197864"/>
            <a:ext cx="411480" cy="1828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839112" y="1025434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6061137" y="105156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</a:t>
            </a:r>
            <a:endParaRPr lang="en-US" sz="2000" dirty="0"/>
          </a:p>
        </p:txBody>
      </p:sp>
      <p:sp>
        <p:nvSpPr>
          <p:cNvPr id="50" name="Text 48"/>
          <p:cNvSpPr/>
          <p:nvPr/>
        </p:nvSpPr>
        <p:spPr>
          <a:xfrm>
            <a:off x="6181344" y="1143000"/>
            <a:ext cx="14630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UML – Sequence Diagram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8549640" y="128016"/>
            <a:ext cx="438912" cy="23774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9640" y="128016"/>
            <a:ext cx="4389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82880" y="786384"/>
            <a:ext cx="1737360" cy="457200"/>
          </a:xfrm>
          <a:prstGeom prst="rect">
            <a:avLst/>
          </a:prstGeom>
          <a:solidFill>
            <a:srgbClr val="0D1B2A"/>
          </a:solidFill>
          <a:ln w="1524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" y="768096"/>
            <a:ext cx="1737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(Browser)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042416" y="1243584"/>
            <a:ext cx="18288" cy="1188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42416" y="1463040"/>
            <a:ext cx="18288" cy="1188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42416" y="1682496"/>
            <a:ext cx="18288" cy="1188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42416" y="1901952"/>
            <a:ext cx="18288" cy="1188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42416" y="2121408"/>
            <a:ext cx="18288" cy="1188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42416" y="2340864"/>
            <a:ext cx="18288" cy="1188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42416" y="2560320"/>
            <a:ext cx="18288" cy="1188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42416" y="2779776"/>
            <a:ext cx="18288" cy="1188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42416" y="2999232"/>
            <a:ext cx="18288" cy="1188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42416" y="3218688"/>
            <a:ext cx="18288" cy="1188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42416" y="3438144"/>
            <a:ext cx="18288" cy="1188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42416" y="3657600"/>
            <a:ext cx="18288" cy="1188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42416" y="3877056"/>
            <a:ext cx="18288" cy="1188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42416" y="4096512"/>
            <a:ext cx="18288" cy="1188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42416" y="4315968"/>
            <a:ext cx="18288" cy="1188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42416" y="4535424"/>
            <a:ext cx="18288" cy="1188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42416" y="4754880"/>
            <a:ext cx="18288" cy="1188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514600" y="786384"/>
            <a:ext cx="1737360" cy="457200"/>
          </a:xfrm>
          <a:prstGeom prst="rect">
            <a:avLst/>
          </a:prstGeom>
          <a:solidFill>
            <a:srgbClr val="0D1B2A"/>
          </a:solidFill>
          <a:ln w="15240">
            <a:solidFill>
              <a:srgbClr val="00B4D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514600" y="786384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Socket.IO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374136" y="1243584"/>
            <a:ext cx="18288" cy="1188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374136" y="1463040"/>
            <a:ext cx="18288" cy="1188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374136" y="1682496"/>
            <a:ext cx="18288" cy="1188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374136" y="1901952"/>
            <a:ext cx="18288" cy="1188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374136" y="2121408"/>
            <a:ext cx="18288" cy="1188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374136" y="2340864"/>
            <a:ext cx="18288" cy="1188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374136" y="2560320"/>
            <a:ext cx="18288" cy="1188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374136" y="2779776"/>
            <a:ext cx="18288" cy="1188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374136" y="2999232"/>
            <a:ext cx="18288" cy="1188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374136" y="3218688"/>
            <a:ext cx="18288" cy="1188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374136" y="3438144"/>
            <a:ext cx="18288" cy="1188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374136" y="3657600"/>
            <a:ext cx="18288" cy="1188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374136" y="3877056"/>
            <a:ext cx="18288" cy="1188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374136" y="4096512"/>
            <a:ext cx="18288" cy="1188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374136" y="4315968"/>
            <a:ext cx="18288" cy="1188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374136" y="4535424"/>
            <a:ext cx="18288" cy="1188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374136" y="4754880"/>
            <a:ext cx="18288" cy="1188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846320" y="786384"/>
            <a:ext cx="1737360" cy="457200"/>
          </a:xfrm>
          <a:prstGeom prst="rect">
            <a:avLst/>
          </a:prstGeom>
          <a:solidFill>
            <a:srgbClr val="0D1B2A"/>
          </a:solidFill>
          <a:ln w="15240">
            <a:solidFill>
              <a:srgbClr val="00B4D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846320" y="786384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5705856" y="1243584"/>
            <a:ext cx="18288" cy="1188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705856" y="1463040"/>
            <a:ext cx="18288" cy="1188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5705856" y="1682496"/>
            <a:ext cx="18288" cy="1188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5705856" y="1901952"/>
            <a:ext cx="18288" cy="1188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5705856" y="2121408"/>
            <a:ext cx="18288" cy="1188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705856" y="2340864"/>
            <a:ext cx="18288" cy="1188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5705856" y="2560320"/>
            <a:ext cx="18288" cy="1188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5705856" y="2779776"/>
            <a:ext cx="18288" cy="1188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5705856" y="2999232"/>
            <a:ext cx="18288" cy="1188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5705856" y="3218688"/>
            <a:ext cx="18288" cy="1188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5705856" y="3438144"/>
            <a:ext cx="18288" cy="1188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5705856" y="3657600"/>
            <a:ext cx="18288" cy="1188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5705856" y="3877056"/>
            <a:ext cx="18288" cy="1188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5705856" y="4096512"/>
            <a:ext cx="18288" cy="1188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705856" y="4315968"/>
            <a:ext cx="18288" cy="1188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5705856" y="4535424"/>
            <a:ext cx="18288" cy="1188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5705856" y="4754880"/>
            <a:ext cx="18288" cy="1188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7178040" y="786384"/>
            <a:ext cx="1737360" cy="457200"/>
          </a:xfrm>
          <a:prstGeom prst="rect">
            <a:avLst/>
          </a:prstGeom>
          <a:solidFill>
            <a:srgbClr val="0D1B2A"/>
          </a:solidFill>
          <a:ln w="15240">
            <a:solidFill>
              <a:srgbClr val="00B4D8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7178040" y="786384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</a:t>
            </a:r>
            <a:endParaRPr lang="en-US" sz="1600" dirty="0"/>
          </a:p>
        </p:txBody>
      </p:sp>
      <p:sp>
        <p:nvSpPr>
          <p:cNvPr id="66" name="Shape 64"/>
          <p:cNvSpPr/>
          <p:nvPr/>
        </p:nvSpPr>
        <p:spPr>
          <a:xfrm>
            <a:off x="8037576" y="1243584"/>
            <a:ext cx="18288" cy="1188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8037576" y="1463040"/>
            <a:ext cx="18288" cy="1188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8037576" y="1682496"/>
            <a:ext cx="18288" cy="1188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8037576" y="1901952"/>
            <a:ext cx="18288" cy="1188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8037576" y="2121408"/>
            <a:ext cx="18288" cy="1188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8037576" y="2340864"/>
            <a:ext cx="18288" cy="1188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8037576" y="2560320"/>
            <a:ext cx="18288" cy="1188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8037576" y="2779776"/>
            <a:ext cx="18288" cy="1188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8037576" y="2999232"/>
            <a:ext cx="18288" cy="1188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8037576" y="3218688"/>
            <a:ext cx="18288" cy="1188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8037576" y="3438144"/>
            <a:ext cx="18288" cy="1188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8037576" y="3657600"/>
            <a:ext cx="18288" cy="1188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8037576" y="3877056"/>
            <a:ext cx="18288" cy="1188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8037576" y="4096512"/>
            <a:ext cx="18288" cy="1188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8037576" y="4315968"/>
            <a:ext cx="18288" cy="1188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8037576" y="4535424"/>
            <a:ext cx="18288" cy="1188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8037576" y="4754880"/>
            <a:ext cx="18288" cy="1188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1051560" y="1517904"/>
            <a:ext cx="2331720" cy="1828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3264408" y="1463040"/>
            <a:ext cx="1371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200" dirty="0"/>
          </a:p>
        </p:txBody>
      </p:sp>
      <p:sp>
        <p:nvSpPr>
          <p:cNvPr id="85" name="Text 83"/>
          <p:cNvSpPr/>
          <p:nvPr/>
        </p:nvSpPr>
        <p:spPr>
          <a:xfrm>
            <a:off x="1440180" y="1316736"/>
            <a:ext cx="1737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connect()</a:t>
            </a:r>
            <a:endParaRPr lang="en-US" sz="1400" dirty="0"/>
          </a:p>
        </p:txBody>
      </p:sp>
      <p:sp>
        <p:nvSpPr>
          <p:cNvPr id="86" name="Shape 84"/>
          <p:cNvSpPr/>
          <p:nvPr/>
        </p:nvSpPr>
        <p:spPr>
          <a:xfrm>
            <a:off x="3319272" y="1481328"/>
            <a:ext cx="128016" cy="201168"/>
          </a:xfrm>
          <a:prstGeom prst="rect">
            <a:avLst/>
          </a:prstGeom>
          <a:solidFill>
            <a:srgbClr val="00B4D8"/>
          </a:solidFill>
          <a:ln w="6350">
            <a:solidFill>
              <a:srgbClr val="0D1B2A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1051560" y="1883664"/>
            <a:ext cx="2331720" cy="1828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3264408" y="1828800"/>
            <a:ext cx="1371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200" dirty="0"/>
          </a:p>
        </p:txBody>
      </p:sp>
      <p:sp>
        <p:nvSpPr>
          <p:cNvPr id="89" name="Text 87"/>
          <p:cNvSpPr/>
          <p:nvPr/>
        </p:nvSpPr>
        <p:spPr>
          <a:xfrm>
            <a:off x="1440180" y="1682496"/>
            <a:ext cx="19431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joinRoom(name, pass)</a:t>
            </a:r>
            <a:endParaRPr lang="en-US" sz="1400" dirty="0"/>
          </a:p>
        </p:txBody>
      </p:sp>
      <p:sp>
        <p:nvSpPr>
          <p:cNvPr id="90" name="Shape 88"/>
          <p:cNvSpPr/>
          <p:nvPr/>
        </p:nvSpPr>
        <p:spPr>
          <a:xfrm>
            <a:off x="3319272" y="1847088"/>
            <a:ext cx="128016" cy="201168"/>
          </a:xfrm>
          <a:prstGeom prst="rect">
            <a:avLst/>
          </a:prstGeom>
          <a:solidFill>
            <a:srgbClr val="00B4D8"/>
          </a:solidFill>
          <a:ln w="6350">
            <a:solidFill>
              <a:srgbClr val="0D1B2A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3383280" y="2249424"/>
            <a:ext cx="2331720" cy="1828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5596128" y="2194560"/>
            <a:ext cx="1371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200" dirty="0"/>
          </a:p>
        </p:txBody>
      </p:sp>
      <p:sp>
        <p:nvSpPr>
          <p:cNvPr id="93" name="Text 91"/>
          <p:cNvSpPr/>
          <p:nvPr/>
        </p:nvSpPr>
        <p:spPr>
          <a:xfrm>
            <a:off x="3771900" y="2048256"/>
            <a:ext cx="1737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emit('join-room')</a:t>
            </a:r>
            <a:endParaRPr lang="en-US" sz="1400" dirty="0"/>
          </a:p>
        </p:txBody>
      </p:sp>
      <p:sp>
        <p:nvSpPr>
          <p:cNvPr id="94" name="Shape 92"/>
          <p:cNvSpPr/>
          <p:nvPr/>
        </p:nvSpPr>
        <p:spPr>
          <a:xfrm>
            <a:off x="5650992" y="2212848"/>
            <a:ext cx="128016" cy="201168"/>
          </a:xfrm>
          <a:prstGeom prst="rect">
            <a:avLst/>
          </a:prstGeom>
          <a:solidFill>
            <a:srgbClr val="00B4D8"/>
          </a:solidFill>
          <a:ln w="6350">
            <a:solidFill>
              <a:srgbClr val="0D1B2A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5715000" y="2615184"/>
            <a:ext cx="2331720" cy="1828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7927848" y="2560320"/>
            <a:ext cx="1371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200" dirty="0"/>
          </a:p>
        </p:txBody>
      </p:sp>
      <p:sp>
        <p:nvSpPr>
          <p:cNvPr id="97" name="Text 95"/>
          <p:cNvSpPr/>
          <p:nvPr/>
        </p:nvSpPr>
        <p:spPr>
          <a:xfrm>
            <a:off x="6103620" y="2414016"/>
            <a:ext cx="1737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validateRoom()</a:t>
            </a:r>
            <a:endParaRPr lang="en-US" sz="1400" dirty="0"/>
          </a:p>
        </p:txBody>
      </p:sp>
      <p:sp>
        <p:nvSpPr>
          <p:cNvPr id="98" name="Shape 96"/>
          <p:cNvSpPr/>
          <p:nvPr/>
        </p:nvSpPr>
        <p:spPr>
          <a:xfrm>
            <a:off x="7982712" y="2578608"/>
            <a:ext cx="128016" cy="201168"/>
          </a:xfrm>
          <a:prstGeom prst="rect">
            <a:avLst/>
          </a:prstGeom>
          <a:solidFill>
            <a:srgbClr val="00B4D8"/>
          </a:solidFill>
          <a:ln w="6350">
            <a:solidFill>
              <a:srgbClr val="0D1B2A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5715000" y="2980944"/>
            <a:ext cx="91440" cy="1828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5879592" y="2980944"/>
            <a:ext cx="91440" cy="1828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6044184" y="2980944"/>
            <a:ext cx="91440" cy="1828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6208776" y="2980944"/>
            <a:ext cx="91440" cy="1828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6373368" y="2980944"/>
            <a:ext cx="91440" cy="1828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6537960" y="2980944"/>
            <a:ext cx="91440" cy="1828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6702552" y="2980944"/>
            <a:ext cx="91440" cy="1828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6867144" y="2980944"/>
            <a:ext cx="91440" cy="1828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7031736" y="2980944"/>
            <a:ext cx="91440" cy="1828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7196328" y="2980944"/>
            <a:ext cx="91440" cy="1828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7360920" y="2980944"/>
            <a:ext cx="91440" cy="1828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7525512" y="2980944"/>
            <a:ext cx="91440" cy="1828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7690104" y="2980944"/>
            <a:ext cx="91440" cy="1828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7854696" y="2980944"/>
            <a:ext cx="91440" cy="1828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5715000" y="2926080"/>
            <a:ext cx="1371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◀</a:t>
            </a:r>
            <a:endParaRPr lang="en-US" sz="1200" dirty="0"/>
          </a:p>
        </p:txBody>
      </p:sp>
      <p:sp>
        <p:nvSpPr>
          <p:cNvPr id="114" name="Text 112"/>
          <p:cNvSpPr/>
          <p:nvPr/>
        </p:nvSpPr>
        <p:spPr>
          <a:xfrm>
            <a:off x="6103620" y="2779776"/>
            <a:ext cx="1737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/ error</a:t>
            </a:r>
            <a:endParaRPr lang="en-US" sz="1400" dirty="0"/>
          </a:p>
        </p:txBody>
      </p:sp>
      <p:sp>
        <p:nvSpPr>
          <p:cNvPr id="115" name="Shape 113"/>
          <p:cNvSpPr/>
          <p:nvPr/>
        </p:nvSpPr>
        <p:spPr>
          <a:xfrm>
            <a:off x="3383280" y="3346704"/>
            <a:ext cx="91440" cy="1828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3547872" y="3346704"/>
            <a:ext cx="91440" cy="1828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3712464" y="3346704"/>
            <a:ext cx="91440" cy="1828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3877056" y="3346704"/>
            <a:ext cx="91440" cy="1828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4041648" y="3346704"/>
            <a:ext cx="91440" cy="1828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4206240" y="3346704"/>
            <a:ext cx="91440" cy="1828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4370832" y="3346704"/>
            <a:ext cx="91440" cy="1828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4535424" y="3346704"/>
            <a:ext cx="91440" cy="1828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4700016" y="3346704"/>
            <a:ext cx="91440" cy="1828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4864608" y="3346704"/>
            <a:ext cx="91440" cy="1828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5029200" y="3346704"/>
            <a:ext cx="91440" cy="1828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5193792" y="3346704"/>
            <a:ext cx="91440" cy="1828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5358384" y="3346704"/>
            <a:ext cx="91440" cy="1828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5522976" y="3346704"/>
            <a:ext cx="91440" cy="1828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29" name="Text 127"/>
          <p:cNvSpPr/>
          <p:nvPr/>
        </p:nvSpPr>
        <p:spPr>
          <a:xfrm>
            <a:off x="3383280" y="3291840"/>
            <a:ext cx="1371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◀</a:t>
            </a:r>
            <a:endParaRPr lang="en-US" sz="1200" dirty="0"/>
          </a:p>
        </p:txBody>
      </p:sp>
      <p:sp>
        <p:nvSpPr>
          <p:cNvPr id="130" name="Text 128"/>
          <p:cNvSpPr/>
          <p:nvPr/>
        </p:nvSpPr>
        <p:spPr>
          <a:xfrm>
            <a:off x="3771900" y="3145536"/>
            <a:ext cx="1737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emit('user-joined')</a:t>
            </a:r>
            <a:endParaRPr lang="en-US" sz="1400" dirty="0"/>
          </a:p>
        </p:txBody>
      </p:sp>
      <p:sp>
        <p:nvSpPr>
          <p:cNvPr id="131" name="Shape 129"/>
          <p:cNvSpPr/>
          <p:nvPr/>
        </p:nvSpPr>
        <p:spPr>
          <a:xfrm>
            <a:off x="1051560" y="3712464"/>
            <a:ext cx="91440" cy="1828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1216152" y="3712464"/>
            <a:ext cx="91440" cy="1828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1380744" y="3712464"/>
            <a:ext cx="91440" cy="1828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1545336" y="3712464"/>
            <a:ext cx="91440" cy="1828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1709928" y="3712464"/>
            <a:ext cx="91440" cy="1828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1874520" y="3712464"/>
            <a:ext cx="91440" cy="1828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2039112" y="3712464"/>
            <a:ext cx="91440" cy="1828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2203704" y="3712464"/>
            <a:ext cx="91440" cy="1828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2368296" y="3712464"/>
            <a:ext cx="91440" cy="1828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2532888" y="3712464"/>
            <a:ext cx="91440" cy="1828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2697480" y="3712464"/>
            <a:ext cx="91440" cy="1828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2862072" y="3712464"/>
            <a:ext cx="91440" cy="1828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3026664" y="3712464"/>
            <a:ext cx="91440" cy="1828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3191256" y="3712464"/>
            <a:ext cx="91440" cy="1828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45" name="Text 143"/>
          <p:cNvSpPr/>
          <p:nvPr/>
        </p:nvSpPr>
        <p:spPr>
          <a:xfrm>
            <a:off x="1051560" y="3657600"/>
            <a:ext cx="1371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◀</a:t>
            </a:r>
            <a:endParaRPr lang="en-US" sz="1200" dirty="0"/>
          </a:p>
        </p:txBody>
      </p:sp>
      <p:sp>
        <p:nvSpPr>
          <p:cNvPr id="146" name="Text 144"/>
          <p:cNvSpPr/>
          <p:nvPr/>
        </p:nvSpPr>
        <p:spPr>
          <a:xfrm>
            <a:off x="1440180" y="3511296"/>
            <a:ext cx="1737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updateUI(users)</a:t>
            </a:r>
            <a:endParaRPr lang="en-US" sz="1400" dirty="0"/>
          </a:p>
        </p:txBody>
      </p:sp>
      <p:sp>
        <p:nvSpPr>
          <p:cNvPr id="147" name="Shape 145"/>
          <p:cNvSpPr/>
          <p:nvPr/>
        </p:nvSpPr>
        <p:spPr>
          <a:xfrm>
            <a:off x="987552" y="3675888"/>
            <a:ext cx="128016" cy="182880"/>
          </a:xfrm>
          <a:prstGeom prst="rect">
            <a:avLst/>
          </a:prstGeom>
          <a:solidFill>
            <a:srgbClr val="00B4D8"/>
          </a:solidFill>
          <a:ln w="6350">
            <a:solidFill>
              <a:srgbClr val="0D1B2A"/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1051560" y="4078224"/>
            <a:ext cx="2331720" cy="1828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49" name="Text 147"/>
          <p:cNvSpPr/>
          <p:nvPr/>
        </p:nvSpPr>
        <p:spPr>
          <a:xfrm>
            <a:off x="3264408" y="4023360"/>
            <a:ext cx="1371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200" dirty="0"/>
          </a:p>
        </p:txBody>
      </p:sp>
      <p:sp>
        <p:nvSpPr>
          <p:cNvPr id="150" name="Text 148"/>
          <p:cNvSpPr/>
          <p:nvPr/>
        </p:nvSpPr>
        <p:spPr>
          <a:xfrm>
            <a:off x="1440180" y="3877056"/>
            <a:ext cx="1737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sendMessage(text)</a:t>
            </a:r>
            <a:endParaRPr lang="en-US" sz="1400" dirty="0"/>
          </a:p>
        </p:txBody>
      </p:sp>
      <p:sp>
        <p:nvSpPr>
          <p:cNvPr id="151" name="Shape 149"/>
          <p:cNvSpPr/>
          <p:nvPr/>
        </p:nvSpPr>
        <p:spPr>
          <a:xfrm>
            <a:off x="3319272" y="4041648"/>
            <a:ext cx="128016" cy="182880"/>
          </a:xfrm>
          <a:prstGeom prst="rect">
            <a:avLst/>
          </a:prstGeom>
          <a:solidFill>
            <a:srgbClr val="00B4D8"/>
          </a:solidFill>
          <a:ln w="6350">
            <a:solidFill>
              <a:srgbClr val="0D1B2A"/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3383280" y="4416552"/>
            <a:ext cx="2331720" cy="1828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53" name="Text 151"/>
          <p:cNvSpPr/>
          <p:nvPr/>
        </p:nvSpPr>
        <p:spPr>
          <a:xfrm>
            <a:off x="5596128" y="4361688"/>
            <a:ext cx="1371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200" dirty="0"/>
          </a:p>
        </p:txBody>
      </p:sp>
      <p:sp>
        <p:nvSpPr>
          <p:cNvPr id="154" name="Text 152"/>
          <p:cNvSpPr/>
          <p:nvPr/>
        </p:nvSpPr>
        <p:spPr>
          <a:xfrm>
            <a:off x="3771900" y="4215384"/>
            <a:ext cx="1737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emit('message')</a:t>
            </a:r>
            <a:endParaRPr lang="en-US" sz="1400" dirty="0"/>
          </a:p>
        </p:txBody>
      </p:sp>
      <p:sp>
        <p:nvSpPr>
          <p:cNvPr id="155" name="Shape 153"/>
          <p:cNvSpPr/>
          <p:nvPr/>
        </p:nvSpPr>
        <p:spPr>
          <a:xfrm>
            <a:off x="5650992" y="4379976"/>
            <a:ext cx="128016" cy="182880"/>
          </a:xfrm>
          <a:prstGeom prst="rect">
            <a:avLst/>
          </a:prstGeom>
          <a:solidFill>
            <a:srgbClr val="00B4D8"/>
          </a:solidFill>
          <a:ln w="6350">
            <a:solidFill>
              <a:srgbClr val="0D1B2A"/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3383280" y="4745736"/>
            <a:ext cx="91440" cy="1828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3547872" y="4745736"/>
            <a:ext cx="91440" cy="1828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3712464" y="4745736"/>
            <a:ext cx="91440" cy="1828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3877056" y="4745736"/>
            <a:ext cx="91440" cy="1828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>
            <a:off x="4041648" y="4745736"/>
            <a:ext cx="91440" cy="1828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>
            <a:off x="4206240" y="4745736"/>
            <a:ext cx="91440" cy="1828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>
            <a:off x="4370832" y="4745736"/>
            <a:ext cx="91440" cy="1828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>
            <a:off x="4535424" y="4745736"/>
            <a:ext cx="91440" cy="1828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>
            <a:off x="4700016" y="4745736"/>
            <a:ext cx="91440" cy="1828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65" name="Shape 163"/>
          <p:cNvSpPr/>
          <p:nvPr/>
        </p:nvSpPr>
        <p:spPr>
          <a:xfrm>
            <a:off x="4864608" y="4745736"/>
            <a:ext cx="91440" cy="1828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66" name="Shape 164"/>
          <p:cNvSpPr/>
          <p:nvPr/>
        </p:nvSpPr>
        <p:spPr>
          <a:xfrm>
            <a:off x="5029200" y="4745736"/>
            <a:ext cx="91440" cy="1828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>
            <a:off x="5193792" y="4745736"/>
            <a:ext cx="91440" cy="1828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68" name="Shape 166"/>
          <p:cNvSpPr/>
          <p:nvPr/>
        </p:nvSpPr>
        <p:spPr>
          <a:xfrm>
            <a:off x="5358384" y="4745736"/>
            <a:ext cx="91440" cy="1828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>
            <a:off x="5522976" y="4745736"/>
            <a:ext cx="91440" cy="1828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70" name="Text 168"/>
          <p:cNvSpPr/>
          <p:nvPr/>
        </p:nvSpPr>
        <p:spPr>
          <a:xfrm>
            <a:off x="3383280" y="4690872"/>
            <a:ext cx="1371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◀</a:t>
            </a:r>
            <a:endParaRPr lang="en-US" sz="1200" dirty="0"/>
          </a:p>
        </p:txBody>
      </p:sp>
      <p:sp>
        <p:nvSpPr>
          <p:cNvPr id="171" name="Text 169"/>
          <p:cNvSpPr/>
          <p:nvPr/>
        </p:nvSpPr>
        <p:spPr>
          <a:xfrm>
            <a:off x="3771900" y="4544568"/>
            <a:ext cx="1737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broadcast to room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UML – Activity Diagram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8549640" y="128016"/>
            <a:ext cx="438912" cy="23774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9640" y="128016"/>
            <a:ext cx="4389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480560" y="705670"/>
            <a:ext cx="167770" cy="191212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602610" y="2776201"/>
            <a:ext cx="18288" cy="128016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20314" y="2867641"/>
            <a:ext cx="1828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600" dirty="0"/>
          </a:p>
        </p:txBody>
      </p:sp>
      <p:sp>
        <p:nvSpPr>
          <p:cNvPr id="10" name="Shape 8"/>
          <p:cNvSpPr/>
          <p:nvPr/>
        </p:nvSpPr>
        <p:spPr>
          <a:xfrm>
            <a:off x="3118897" y="2995657"/>
            <a:ext cx="2926080" cy="402336"/>
          </a:xfrm>
          <a:prstGeom prst="rect">
            <a:avLst/>
          </a:prstGeom>
          <a:solidFill>
            <a:srgbClr val="FFFFFF"/>
          </a:solidFill>
          <a:ln w="17780">
            <a:solidFill>
              <a:srgbClr val="00B4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128041" y="2995657"/>
            <a:ext cx="2926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username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62856" y="1320720"/>
            <a:ext cx="18288" cy="1371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89704" y="1412949"/>
            <a:ext cx="1828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600" dirty="0"/>
          </a:p>
        </p:txBody>
      </p:sp>
      <p:sp>
        <p:nvSpPr>
          <p:cNvPr id="14" name="Shape 12"/>
          <p:cNvSpPr/>
          <p:nvPr/>
        </p:nvSpPr>
        <p:spPr>
          <a:xfrm>
            <a:off x="3657600" y="1489686"/>
            <a:ext cx="1828800" cy="621792"/>
          </a:xfrm>
          <a:prstGeom prst="rect">
            <a:avLst/>
          </a:prstGeom>
          <a:solidFill>
            <a:srgbClr val="F0F4F8"/>
          </a:solidFill>
          <a:ln w="22860">
            <a:solidFill>
              <a:srgbClr val="0D1B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0" y="1489686"/>
            <a:ext cx="18288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or Join?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371600" y="1791438"/>
            <a:ext cx="2286000" cy="1828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024146" y="1535406"/>
            <a:ext cx="6583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[Create]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320040" y="2107107"/>
            <a:ext cx="2286000" cy="438912"/>
          </a:xfrm>
          <a:prstGeom prst="rect">
            <a:avLst/>
          </a:prstGeom>
          <a:solidFill>
            <a:srgbClr val="FFFFFF"/>
          </a:solidFill>
          <a:ln w="16510">
            <a:solidFill>
              <a:srgbClr val="00B4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" y="2107107"/>
            <a:ext cx="2286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Room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(name, public/private)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486400" y="1791438"/>
            <a:ext cx="2286000" cy="1828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532120" y="1535406"/>
            <a:ext cx="594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[Join]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6537960" y="2107107"/>
            <a:ext cx="2286000" cy="438912"/>
          </a:xfrm>
          <a:prstGeom prst="rect">
            <a:avLst/>
          </a:prstGeom>
          <a:solidFill>
            <a:srgbClr val="FFFFFF"/>
          </a:solidFill>
          <a:ln w="16510">
            <a:solidFill>
              <a:srgbClr val="00B4D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37960" y="2107107"/>
            <a:ext cx="2286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Room</a:t>
            </a:r>
            <a:endParaRPr lang="en-US" sz="900" dirty="0"/>
          </a:p>
          <a:p>
            <a:pPr algn="ctr"/>
            <a:r>
              <a:rPr lang="en-IN" sz="900" dirty="0"/>
              <a:t>(enter password if private)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1362456" y="2546019"/>
            <a:ext cx="18288" cy="2743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63256" y="2546019"/>
            <a:ext cx="18288" cy="2743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371600" y="2811195"/>
            <a:ext cx="6400800" cy="1828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33039" y="3376926"/>
            <a:ext cx="18288" cy="914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450743" y="3431790"/>
            <a:ext cx="1828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600" dirty="0"/>
          </a:p>
        </p:txBody>
      </p:sp>
      <p:sp>
        <p:nvSpPr>
          <p:cNvPr id="31" name="Shape 29"/>
          <p:cNvSpPr/>
          <p:nvPr/>
        </p:nvSpPr>
        <p:spPr>
          <a:xfrm>
            <a:off x="3108960" y="3559807"/>
            <a:ext cx="2926080" cy="402336"/>
          </a:xfrm>
          <a:prstGeom prst="rect">
            <a:avLst/>
          </a:prstGeom>
          <a:solidFill>
            <a:srgbClr val="FFFFFF"/>
          </a:solidFill>
          <a:ln w="17780">
            <a:solidFill>
              <a:srgbClr val="00B4D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108960" y="3559807"/>
            <a:ext cx="2926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 —  send messages, typing, user count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562856" y="3962143"/>
            <a:ext cx="18288" cy="7315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480560" y="3998719"/>
            <a:ext cx="1828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600" dirty="0"/>
          </a:p>
        </p:txBody>
      </p:sp>
      <p:sp>
        <p:nvSpPr>
          <p:cNvPr id="35" name="Shape 33"/>
          <p:cNvSpPr/>
          <p:nvPr/>
        </p:nvSpPr>
        <p:spPr>
          <a:xfrm>
            <a:off x="3108960" y="4126735"/>
            <a:ext cx="2926080" cy="402336"/>
          </a:xfrm>
          <a:prstGeom prst="rect">
            <a:avLst/>
          </a:prstGeom>
          <a:solidFill>
            <a:srgbClr val="FFFFFF"/>
          </a:solidFill>
          <a:ln w="17780">
            <a:solidFill>
              <a:srgbClr val="00B4D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108960" y="4126735"/>
            <a:ext cx="2926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Disconnect  →  auto cleanup if last user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562856" y="4529071"/>
            <a:ext cx="18288" cy="54864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480560" y="4547359"/>
            <a:ext cx="1828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600" dirty="0"/>
          </a:p>
        </p:txBody>
      </p:sp>
      <p:sp>
        <p:nvSpPr>
          <p:cNvPr id="39" name="Shape 37"/>
          <p:cNvSpPr/>
          <p:nvPr/>
        </p:nvSpPr>
        <p:spPr>
          <a:xfrm>
            <a:off x="4383551" y="4675375"/>
            <a:ext cx="378082" cy="385829"/>
          </a:xfrm>
          <a:prstGeom prst="ellipse">
            <a:avLst/>
          </a:prstGeom>
          <a:solidFill>
            <a:srgbClr val="FFFFFF"/>
          </a:solidFill>
          <a:ln w="27940">
            <a:solidFill>
              <a:srgbClr val="0D1B2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474991" y="4766815"/>
            <a:ext cx="217071" cy="201168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1" name="Shape 24">
            <a:extLst>
              <a:ext uri="{FF2B5EF4-FFF2-40B4-BE49-F238E27FC236}">
                <a16:creationId xmlns:a16="http://schemas.microsoft.com/office/drawing/2014/main" id="{1A4D6A4A-0DE1-884A-6E9B-2F1B54F4A51C}"/>
              </a:ext>
            </a:extLst>
          </p:cNvPr>
          <p:cNvSpPr/>
          <p:nvPr/>
        </p:nvSpPr>
        <p:spPr>
          <a:xfrm>
            <a:off x="1366564" y="1823643"/>
            <a:ext cx="18288" cy="2743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2" name="Shape 24">
            <a:extLst>
              <a:ext uri="{FF2B5EF4-FFF2-40B4-BE49-F238E27FC236}">
                <a16:creationId xmlns:a16="http://schemas.microsoft.com/office/drawing/2014/main" id="{EEA0BFC9-176B-07D0-59D3-34169E660983}"/>
              </a:ext>
            </a:extLst>
          </p:cNvPr>
          <p:cNvSpPr/>
          <p:nvPr/>
        </p:nvSpPr>
        <p:spPr>
          <a:xfrm>
            <a:off x="7764846" y="1823643"/>
            <a:ext cx="18288" cy="2743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3" name="Shape 8">
            <a:extLst>
              <a:ext uri="{FF2B5EF4-FFF2-40B4-BE49-F238E27FC236}">
                <a16:creationId xmlns:a16="http://schemas.microsoft.com/office/drawing/2014/main" id="{0FFFC044-66C2-B8A7-27A0-8FF3E18A9B05}"/>
              </a:ext>
            </a:extLst>
          </p:cNvPr>
          <p:cNvSpPr/>
          <p:nvPr/>
        </p:nvSpPr>
        <p:spPr>
          <a:xfrm>
            <a:off x="3148714" y="1001877"/>
            <a:ext cx="2926080" cy="402336"/>
          </a:xfrm>
          <a:prstGeom prst="rect">
            <a:avLst/>
          </a:prstGeom>
          <a:solidFill>
            <a:srgbClr val="FFFFFF"/>
          </a:solidFill>
          <a:ln w="17780">
            <a:solidFill>
              <a:srgbClr val="00B4D8"/>
            </a:solidFill>
            <a:prstDash val="solid"/>
          </a:ln>
        </p:spPr>
      </p:sp>
      <p:sp>
        <p:nvSpPr>
          <p:cNvPr id="44" name="Text 9">
            <a:extLst>
              <a:ext uri="{FF2B5EF4-FFF2-40B4-BE49-F238E27FC236}">
                <a16:creationId xmlns:a16="http://schemas.microsoft.com/office/drawing/2014/main" id="{C45EE4D3-FE3C-F595-5D16-8325BDA3C2D7}"/>
              </a:ext>
            </a:extLst>
          </p:cNvPr>
          <p:cNvSpPr/>
          <p:nvPr/>
        </p:nvSpPr>
        <p:spPr>
          <a:xfrm>
            <a:off x="3157858" y="1001877"/>
            <a:ext cx="2926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Website</a:t>
            </a:r>
            <a:endParaRPr lang="en-US" sz="1000" dirty="0"/>
          </a:p>
        </p:txBody>
      </p:sp>
      <p:sp>
        <p:nvSpPr>
          <p:cNvPr id="45" name="Shape 27">
            <a:extLst>
              <a:ext uri="{FF2B5EF4-FFF2-40B4-BE49-F238E27FC236}">
                <a16:creationId xmlns:a16="http://schemas.microsoft.com/office/drawing/2014/main" id="{3ECE97E2-B1EE-6AA6-BFD7-73555B3607F6}"/>
              </a:ext>
            </a:extLst>
          </p:cNvPr>
          <p:cNvSpPr/>
          <p:nvPr/>
        </p:nvSpPr>
        <p:spPr>
          <a:xfrm>
            <a:off x="4583527" y="401954"/>
            <a:ext cx="18288" cy="914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6" name="Shape 6">
            <a:extLst>
              <a:ext uri="{FF2B5EF4-FFF2-40B4-BE49-F238E27FC236}">
                <a16:creationId xmlns:a16="http://schemas.microsoft.com/office/drawing/2014/main" id="{84B7850B-D8AD-E7BD-3F5D-832E7305CA5A}"/>
              </a:ext>
            </a:extLst>
          </p:cNvPr>
          <p:cNvSpPr/>
          <p:nvPr/>
        </p:nvSpPr>
        <p:spPr>
          <a:xfrm>
            <a:off x="4565239" y="832874"/>
            <a:ext cx="18288" cy="128016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332712" y="466344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open-chat-application-ubti.onrender.com  ·  github.com/Harshith1702/Open_Chat_Application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8549640" y="164592"/>
            <a:ext cx="438912" cy="237744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549640" y="164592"/>
            <a:ext cx="4389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800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6084290-F4BF-E37D-D22F-A959B8CAA1E9}"/>
              </a:ext>
            </a:extLst>
          </p:cNvPr>
          <p:cNvSpPr txBox="1"/>
          <p:nvPr/>
        </p:nvSpPr>
        <p:spPr>
          <a:xfrm>
            <a:off x="581688" y="907965"/>
            <a:ext cx="7980624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Designed and implemented a real-time multi-user chat system using WebSocket-based communication.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Users can create or join chat rooms and exchange messages instantly through an event-driven architecture.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The system uses a lightweight backend with in-memory room management and no database dependency.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The application is successfully deployed on Render and accessible from any modern web browser.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315</TotalTime>
  <Words>1207</Words>
  <Application>Microsoft Office PowerPoint</Application>
  <PresentationFormat>On-screen Show (16:9)</PresentationFormat>
  <Paragraphs>297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Padakanti Harshith</cp:lastModifiedBy>
  <cp:revision>7</cp:revision>
  <dcterms:created xsi:type="dcterms:W3CDTF">2026-03-15T11:13:52Z</dcterms:created>
  <dcterms:modified xsi:type="dcterms:W3CDTF">2026-03-16T12:30:12Z</dcterms:modified>
</cp:coreProperties>
</file>